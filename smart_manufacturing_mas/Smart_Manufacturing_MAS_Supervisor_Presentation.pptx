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T2023543 Darsh Veer Singh" userId="6f981354-3435-4f23-b19c-2822097372cf" providerId="ADAL" clId="{D8470CC2-7E77-4DB4-8B3A-FAFD56721333}"/>
    <pc:docChg chg="modSld">
      <pc:chgData name="IMT2023543 Darsh Veer Singh" userId="6f981354-3435-4f23-b19c-2822097372cf" providerId="ADAL" clId="{D8470CC2-7E77-4DB4-8B3A-FAFD56721333}" dt="2026-10-06T06:38:02.422" v="27" actId="20577"/>
      <pc:docMkLst>
        <pc:docMk/>
      </pc:docMkLst>
      <pc:sldChg chg="modSp mod">
        <pc:chgData name="IMT2023543 Darsh Veer Singh" userId="6f981354-3435-4f23-b19c-2822097372cf" providerId="ADAL" clId="{D8470CC2-7E77-4DB4-8B3A-FAFD56721333}" dt="2026-10-06T06:04:44.859" v="26" actId="20577"/>
        <pc:sldMkLst>
          <pc:docMk/>
          <pc:sldMk cId="0" sldId="261"/>
        </pc:sldMkLst>
        <pc:spChg chg="mod">
          <ac:chgData name="IMT2023543 Darsh Veer Singh" userId="6f981354-3435-4f23-b19c-2822097372cf" providerId="ADAL" clId="{D8470CC2-7E77-4DB4-8B3A-FAFD56721333}" dt="2026-10-06T06:04:44.859" v="26" actId="20577"/>
          <ac:spMkLst>
            <pc:docMk/>
            <pc:sldMk cId="0" sldId="261"/>
            <ac:spMk id="53" creationId="{00000000-0000-0000-0000-000000000000}"/>
          </ac:spMkLst>
        </pc:spChg>
      </pc:sldChg>
      <pc:sldChg chg="modSp mod">
        <pc:chgData name="IMT2023543 Darsh Veer Singh" userId="6f981354-3435-4f23-b19c-2822097372cf" providerId="ADAL" clId="{D8470CC2-7E77-4DB4-8B3A-FAFD56721333}" dt="2026-10-06T06:38:02.422" v="27" actId="20577"/>
        <pc:sldMkLst>
          <pc:docMk/>
          <pc:sldMk cId="0" sldId="277"/>
        </pc:sldMkLst>
        <pc:spChg chg="mod">
          <ac:chgData name="IMT2023543 Darsh Veer Singh" userId="6f981354-3435-4f23-b19c-2822097372cf" providerId="ADAL" clId="{D8470CC2-7E77-4DB4-8B3A-FAFD56721333}" dt="2026-10-06T06:38:02.422" v="27" actId="20577"/>
          <ac:spMkLst>
            <pc:docMk/>
            <pc:sldMk cId="0" sldId="277"/>
            <ac:spMk id="3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7630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Professor. Today I am walking through our work on a prescriptive maintenance multi-agent system. The project takes raw vibration, temperature, and pressure sensor streams from industrial equipment and turns them directly into ranked maintenance repair orders. Across all five phases, we moved from raw multi-modal sensor ingestion to a live out-of-domain plant evaluation on factory pumps, cutting downtime by 87.9 percent compared to run-to-failure.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plants already collect sensor data, but they get stuck in an alert loop. A model tells them a pump will fail in thirty hours, but it does not specify whether to grease the bearing, flush the seal, or adjust pump speed. In our factory dataset, unmanaged pump breakdowns cost 2.55 million dollars and 111 hours of downtime. Our system bridges this gap by recommending specific, ranked work orders.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set out to answer three straightforward questions: Can a model trained on mixed data work on unseen machines? Why does it differ from traditional calendar schedules? And can early plant data improve its recommendations? To keep our evaluation honest, we used real factory work orders as ground truth and froze the model parameters before testing on external plant logs.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our system architecture. On the left are the five progressive phases: sensor ingestion, canonical state normalization, medoid pruning, hybrid ranking, and plant validation. On the right, the schematic shows how these agents interact. Ingestion feeds the state normalizer, which passes a 95-dimensional vector to the frozen ranker. The ranker generates a maintenance ticket for dispatch, and the closed-loop engine evaluates both historical replay and forward surrogate recovery.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see how this works in practice, Slide 5 traces a single machine failure from our factory dataset: Slurry Pump 1. In Phase 1, the pump experiences a sharp vibration peak of 12.4 mm/s RMS while bearing temperature reaches 78 degrees. In Phase 2, this converts into our 95-dimensional CMSR vector, flagging a critical health index of 34.2. In Phase 3, change-point detection captures this transition as medoid DS 0412, and our LLM cascade establishes bearing replacement as the priority. In Phase 4, the frozen hybrid ranker issues an exact recommendation for bearing replacement with 96 percent confidence. Finally, in Phase 5, this matched the physical work order written by plant mechanics two minutes later, preventing an emergency seizure that would have cost 38,500 dollars.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focused on collecting and cleaning sensor data from diverse sources. We gathered 7.8 million rows spanning turbofan engines, high-speed bearings, and air compressors. An important step here was quarantine gating. We kept failure labels completely separate from input sensor streams so the model could never accidentally learn from future failure tags.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Phase 2, we solved the vendor naming problem. One plant logs pressure as 'P_bar' and another logs it as 'press_psi'. We created the Canonical Machine State Representation, which normalizes 730 raw sensor channels into 24 standard physical quantities in metric units. On the right, the coverage matrix shows how each benchmark dataset contributes thermal, vibration, pressure, and electrical signals into this common state representation.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Almost all raw factory data is uninformative steady-state humming. If you train on raw streams, the model only sees healthy machines and starves on rare failures. In Phase 3A, we used change-point detection to compress 6.53 million raw rows down to 1,023 distinct operational states. On the right, you can see how our quotas balanced normal, watch, degrading, and critical states across all datasets, giving the model clear examples of active failure.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Phase 3B, we structured maintenance into 21 concrete actions. On the right, the ontology chart shows how these are grouped into monitoring, inspection, corrective servicing, component replacement, and operating adjustments. To establish baseline training targets without expensive manual surveys, we gathered action comparisons using language models at zero temperature. This produced 4,063 consistent preference pairs to train our ranking engine.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Phase 4, we built our ranking engine. Rather than relying solely on decision trees or case memory, we combined both. LightGBM handles common wear patterns across forty sensor features, while case-based reasoning checks for rare historical matches. On the right, the benchmark shows that our frozen hybrid model reaches 0.9339 NDCG at 3, substantially outperforming domain heuristics and isolated baselines.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Scoring high marks on lab datasets is useful, but it does not prove a system will work on a noisy factory floor. Lab tests do not face missing sensors, parts shortages, or mechanic delays. That is why we locked our model weights and moved directly to Phase 5, testing how the system performs against actual maintenance records from running industrial pumps.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screened external datasets carefully. Notably, we disqualified the popular Microsoft Azure Predictive Maintenance dataset because our audit confirmed it was artificially generated with synthetic error codes. On the right, our screening matrix shows that only two external sources met all six physical requirements: a fleet of heavy slurry pumps with 52,000 hours of continuous logs, and a rotating machinery benchmark with 80 scheduled overhauls.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zero-shot results on the unseen slurry pumps. In a twenty-action candidate space, the frozen model matched the exact repair order written by plant mechanics 25.4 percent of the time. That beats standard plant rules by 45.5 percent and is eight times higher than random chance. Because the model had never seen a slurry pump during training, this confirms that its physical state representations transfer across machine families.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interesting pattern appeared on the rotating machinery dataset. The model scored zero matches against human full teardowns. When we checked sensor readings, we discovered why: over half of the machines were still 74 percent healthy. The plant was tearing them down simply because a calendar interval arrived. The AI refused to order a teardown, recommending vibration checks instead. This would have saved 1,200 dollars per machine, showing that disagreeing with human logs can be a sign of better economics.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Evaluating an AI purely on exact word-for-word matches is too harsh. If a technician replaces a bearing and the model recommends an immediate vibration inspection on that same bearing, a simple binary check marks that as zero. On the right, our hierarchical evaluation shows that the model matches technician intent at the operational family level 58.7 percent of the time, and identifies both the exact action and component 20.6 percent of the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maintenance recommendation is useless if it arrives three seconds before a machine breaks. On the right, you can see our failure anticipation results. Across all breakdown events, the system successfully anticipated 95.7 percent of failures within forty-eight hours of occurrence, with a median lead time of 0.4 hours. That gives operators sufficient warning to run a controlled shutdown rather than suffering an emergency seizure.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make maintenance practical, we evaluated whether the model could pinpoint which specific component was broken. On the right, the chart shows strong performance: 72 percent recall on mechanical bearings and 75 percent recall on seals and valves. We also added selective prediction. When the model is uncertain, it flags the ticket for manual review. Filtering the top half of most confident predictions raises exact action match from 25.4 percent to 30.3 percent.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bringing a system to a new factory, you do not want to retrain the entire model on just sixty work orders. That causes heavy overfitting. Instead, we calibrated action base rates using forty-three early records and tested on twenty untouched future events. On the right, the data efficiency curve shows how quickly the model climbs: with only twenty-five percent of plant records, performance exceeds the zero-shot baseline, eventually reaching seventy-five percent recall.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translates these technical numbers into plant economics. In closed-loop simulations, catching degradation early and replacing worn seals cut fleet downtime by 79.6 percent. On the right, our cost sensitivity analysis confirms that across optimistic, baseline, and conservative financial regimes, the prescriptive AI policy consistently cuts operational losses by more than half compared to reactive repair or run-to-failure.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be certain our numbers were not inflated by accidental lookahead leakage, we ran an automated fourteen-point audit. The checks verified that all input windows strictly stopped before the recommendation timestamp, case libraries were sealed against test data, and model hashes remained unchanged. Alongside that, twenty-one automated pytest test cases pass with a 100 percent success rate.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lays out what the system can and cannot do. We proved that cross-asset transfer works, early warnings catch breakdowns, and early records adapt the model quickly. At the same time, we do not claim the system should run without human oversight. It is designed to assist dispatchers and technicians, with ambiguous cases routed to senior engineers.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the project delivers a complete prescriptive maintenance system that turns noisy telemetry into concrete repair actions. On the right, our multi-dimensional radar plot summarizes the system across category agreement, MRR, component identification, failure anticipation, selective coverage, and cost savings. All research artifacts are complete, and we are preparing the manuscript for submission to IEEE Transactions on Industrial Informatics.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23 addresses three practical questions you might have: why we adjusted action priors instead of retraining the trees, why we skipped the synthetic Azure dataset, and how we guaranteed that future failure data did not leak into the inputs. Thank you, Professor, for your time and feedback throughout this project. I am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731520" y="914400"/>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655320" y="8382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93420" y="8763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353800" y="8382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391900" y="8763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731520" y="4114800"/>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55320" y="40386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93420" y="40767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353800" y="40386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391900" y="40767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97280" y="1143000"/>
            <a:ext cx="9966960" cy="2743200"/>
          </a:xfrm>
          <a:prstGeom prst="rect">
            <a:avLst/>
          </a:prstGeom>
          <a:noFill/>
        </p:spPr>
        <p:txBody>
          <a:bodyPr wrap="square" lIns="0" tIns="0" rIns="0" bIns="0">
            <a:spAutoFit/>
          </a:bodyPr>
          <a:lstStyle/>
          <a:p>
            <a:pPr>
              <a:defRPr sz="1100" b="1">
                <a:solidFill>
                  <a:srgbClr val="D9A45B"/>
                </a:solidFill>
                <a:latin typeface="Consolas"/>
              </a:defRPr>
            </a:pPr>
            <a:r>
              <a:t>AIM801 PROJECT ELECTIVE // PROJECT PRESENTATION</a:t>
            </a:r>
          </a:p>
          <a:p>
            <a:pPr>
              <a:spcBef>
                <a:spcPts val="800"/>
              </a:spcBef>
              <a:spcAft>
                <a:spcPts val="800"/>
              </a:spcAft>
              <a:defRPr sz="2700" b="1">
                <a:solidFill>
                  <a:srgbClr val="FFFFFF"/>
                </a:solidFill>
                <a:latin typeface="Chakra Petch"/>
              </a:defRPr>
            </a:pPr>
            <a:r>
              <a:t>Smart manufacturing multi-agent system</a:t>
            </a:r>
            <a:br/>
            <a:r>
              <a:t>for prescriptive maintenance</a:t>
            </a:r>
          </a:p>
          <a:p>
            <a:pPr>
              <a:defRPr sz="1150">
                <a:solidFill>
                  <a:srgbClr val="8CB9AA"/>
                </a:solidFill>
                <a:latin typeface="Consolas"/>
              </a:defRPr>
            </a:pPr>
            <a:r>
              <a:t>TURNING INDUSTRIAL SENSOR STREAMS INTO RANKED WORK ORDERS ACROSS UNSEEN FACTORY ASSETS</a:t>
            </a:r>
          </a:p>
          <a:p>
            <a:pPr>
              <a:spcBef>
                <a:spcPts val="1200"/>
              </a:spcBef>
              <a:defRPr sz="1150">
                <a:solidFill>
                  <a:srgbClr val="E8C27A"/>
                </a:solidFill>
                <a:latin typeface="Consolas"/>
              </a:defRPr>
            </a:pPr>
            <a:r>
              <a:t>DARSH VEER SINGH // SUPERVISOR REVIEW // 2026</a:t>
            </a:r>
          </a:p>
        </p:txBody>
      </p:sp>
      <p:sp>
        <p:nvSpPr>
          <p:cNvPr id="22" name="Rectangle 21"/>
          <p:cNvSpPr/>
          <p:nvPr/>
        </p:nvSpPr>
        <p:spPr>
          <a:xfrm>
            <a:off x="731520" y="4526280"/>
            <a:ext cx="2468880" cy="169164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992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20040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992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992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20040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33120" y="46278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240280" y="4577080"/>
            <a:ext cx="822960" cy="228600"/>
          </a:xfrm>
          <a:prstGeom prst="rect">
            <a:avLst/>
          </a:prstGeom>
          <a:noFill/>
        </p:spPr>
        <p:txBody>
          <a:bodyPr wrap="none" lIns="0" tIns="0" rIns="0" bIns="0">
            <a:spAutoFit/>
          </a:bodyPr>
          <a:lstStyle/>
          <a:p>
            <a:pPr algn="r">
              <a:defRPr sz="850" b="1">
                <a:solidFill>
                  <a:srgbClr val="D9A45B"/>
                </a:solidFill>
                <a:latin typeface="Consolas"/>
              </a:defRPr>
            </a:pPr>
            <a:r>
              <a:t>REG_01</a:t>
            </a:r>
          </a:p>
        </p:txBody>
      </p:sp>
      <p:sp>
        <p:nvSpPr>
          <p:cNvPr id="31" name="TextBox 30"/>
          <p:cNvSpPr txBox="1"/>
          <p:nvPr/>
        </p:nvSpPr>
        <p:spPr>
          <a:xfrm>
            <a:off x="896112" y="4636008"/>
            <a:ext cx="2139696" cy="1472184"/>
          </a:xfrm>
          <a:prstGeom prst="rect">
            <a:avLst/>
          </a:prstGeom>
          <a:noFill/>
        </p:spPr>
        <p:txBody>
          <a:bodyPr wrap="square" lIns="0" tIns="0" rIns="0" bIns="0">
            <a:spAutoFit/>
          </a:bodyPr>
          <a:lstStyle/>
          <a:p>
            <a:pPr>
              <a:defRPr sz="1000" b="1">
                <a:solidFill>
                  <a:srgbClr val="8CB9AA"/>
                </a:solidFill>
                <a:latin typeface="Consolas"/>
              </a:defRPr>
            </a:pPr>
            <a:r>
              <a:t>PROJECT STATUS</a:t>
            </a:r>
          </a:p>
          <a:p>
            <a:pPr>
              <a:defRPr sz="2200" b="1">
                <a:solidFill>
                  <a:srgbClr val="E8C27A"/>
                </a:solidFill>
                <a:latin typeface="Segoe UI"/>
              </a:defRPr>
            </a:pPr>
            <a:r>
              <a:t>PHASES 1 TO 5</a:t>
            </a:r>
          </a:p>
          <a:p>
            <a:pPr>
              <a:defRPr sz="950">
                <a:solidFill>
                  <a:srgbClr val="D9A45B"/>
                </a:solidFill>
                <a:latin typeface="Consolas"/>
              </a:defRPr>
            </a:pPr>
            <a:r>
              <a:t>Complete end-to-end pipeline</a:t>
            </a:r>
          </a:p>
        </p:txBody>
      </p:sp>
      <p:sp>
        <p:nvSpPr>
          <p:cNvPr id="32" name="Rectangle 31"/>
          <p:cNvSpPr/>
          <p:nvPr/>
        </p:nvSpPr>
        <p:spPr>
          <a:xfrm>
            <a:off x="3474720" y="4526280"/>
            <a:ext cx="2468880" cy="169164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37312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94360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37312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94360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37312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94360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76320" y="46278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80" y="4577080"/>
            <a:ext cx="822960" cy="228600"/>
          </a:xfrm>
          <a:prstGeom prst="rect">
            <a:avLst/>
          </a:prstGeom>
          <a:noFill/>
        </p:spPr>
        <p:txBody>
          <a:bodyPr wrap="none" lIns="0" tIns="0" rIns="0" bIns="0">
            <a:spAutoFit/>
          </a:bodyPr>
          <a:lstStyle/>
          <a:p>
            <a:pPr algn="r">
              <a:defRPr sz="850" b="1">
                <a:solidFill>
                  <a:srgbClr val="D9A45B"/>
                </a:solidFill>
                <a:latin typeface="Consolas"/>
              </a:defRPr>
            </a:pPr>
            <a:r>
              <a:t>REG_02</a:t>
            </a:r>
          </a:p>
        </p:txBody>
      </p:sp>
      <p:sp>
        <p:nvSpPr>
          <p:cNvPr id="41" name="TextBox 40"/>
          <p:cNvSpPr txBox="1"/>
          <p:nvPr/>
        </p:nvSpPr>
        <p:spPr>
          <a:xfrm>
            <a:off x="3639312" y="4636008"/>
            <a:ext cx="2139696" cy="1472184"/>
          </a:xfrm>
          <a:prstGeom prst="rect">
            <a:avLst/>
          </a:prstGeom>
          <a:noFill/>
        </p:spPr>
        <p:txBody>
          <a:bodyPr wrap="square" lIns="0" tIns="0" rIns="0" bIns="0">
            <a:spAutoFit/>
          </a:bodyPr>
          <a:lstStyle/>
          <a:p>
            <a:pPr>
              <a:defRPr sz="1000" b="1">
                <a:solidFill>
                  <a:srgbClr val="8CB9AA"/>
                </a:solidFill>
                <a:latin typeface="Consolas"/>
              </a:defRPr>
            </a:pPr>
            <a:r>
              <a:t>MODEL ARCHITECTURE</a:t>
            </a:r>
          </a:p>
          <a:p>
            <a:pPr>
              <a:defRPr sz="2200" b="1">
                <a:solidFill>
                  <a:srgbClr val="E8C27A"/>
                </a:solidFill>
                <a:latin typeface="Segoe UI"/>
              </a:defRPr>
            </a:pPr>
            <a:r>
              <a:t>FROZEN HYBRID</a:t>
            </a:r>
          </a:p>
          <a:p>
            <a:pPr>
              <a:defRPr sz="950">
                <a:solidFill>
                  <a:srgbClr val="D9A45B"/>
                </a:solidFill>
                <a:latin typeface="Consolas"/>
              </a:defRPr>
            </a:pPr>
            <a:r>
              <a:t>Locked SHA-256 weights</a:t>
            </a:r>
          </a:p>
        </p:txBody>
      </p:sp>
      <p:sp>
        <p:nvSpPr>
          <p:cNvPr id="42" name="Rectangle 41"/>
          <p:cNvSpPr/>
          <p:nvPr/>
        </p:nvSpPr>
        <p:spPr>
          <a:xfrm>
            <a:off x="6217920" y="4526280"/>
            <a:ext cx="2468880" cy="169164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11632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68680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1632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68680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1632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68680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319520" y="46278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726680" y="4577080"/>
            <a:ext cx="822960" cy="228600"/>
          </a:xfrm>
          <a:prstGeom prst="rect">
            <a:avLst/>
          </a:prstGeom>
          <a:noFill/>
        </p:spPr>
        <p:txBody>
          <a:bodyPr wrap="none" lIns="0" tIns="0" rIns="0" bIns="0">
            <a:spAutoFit/>
          </a:bodyPr>
          <a:lstStyle/>
          <a:p>
            <a:pPr algn="r">
              <a:defRPr sz="850" b="1">
                <a:solidFill>
                  <a:srgbClr val="D9A45B"/>
                </a:solidFill>
                <a:latin typeface="Consolas"/>
              </a:defRPr>
            </a:pPr>
            <a:r>
              <a:t>REG_03</a:t>
            </a:r>
          </a:p>
        </p:txBody>
      </p:sp>
      <p:sp>
        <p:nvSpPr>
          <p:cNvPr id="51" name="TextBox 50"/>
          <p:cNvSpPr txBox="1"/>
          <p:nvPr/>
        </p:nvSpPr>
        <p:spPr>
          <a:xfrm>
            <a:off x="6382512" y="4636008"/>
            <a:ext cx="2139696" cy="1472184"/>
          </a:xfrm>
          <a:prstGeom prst="rect">
            <a:avLst/>
          </a:prstGeom>
          <a:noFill/>
        </p:spPr>
        <p:txBody>
          <a:bodyPr wrap="square" lIns="0" tIns="0" rIns="0" bIns="0">
            <a:spAutoFit/>
          </a:bodyPr>
          <a:lstStyle/>
          <a:p>
            <a:pPr>
              <a:defRPr sz="1000" b="1">
                <a:solidFill>
                  <a:srgbClr val="8CB9AA"/>
                </a:solidFill>
                <a:latin typeface="Consolas"/>
              </a:defRPr>
            </a:pPr>
            <a:r>
              <a:t>ZERO-SHOT ACCURACY</a:t>
            </a:r>
          </a:p>
          <a:p>
            <a:pPr>
              <a:defRPr sz="2200" b="1">
                <a:solidFill>
                  <a:srgbClr val="E8C27A"/>
                </a:solidFill>
                <a:latin typeface="Segoe UI"/>
              </a:defRPr>
            </a:pPr>
            <a:r>
              <a:t>25.4 PERCENT</a:t>
            </a:r>
          </a:p>
          <a:p>
            <a:pPr>
              <a:defRPr sz="950">
                <a:solidFill>
                  <a:srgbClr val="D9A45B"/>
                </a:solidFill>
                <a:latin typeface="Consolas"/>
              </a:defRPr>
            </a:pPr>
            <a:r>
              <a:t>+45.5% over plant rules</a:t>
            </a:r>
          </a:p>
        </p:txBody>
      </p:sp>
      <p:sp>
        <p:nvSpPr>
          <p:cNvPr id="52" name="Rectangle 51"/>
          <p:cNvSpPr/>
          <p:nvPr/>
        </p:nvSpPr>
        <p:spPr>
          <a:xfrm>
            <a:off x="8961120" y="4526280"/>
            <a:ext cx="2468880" cy="169164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85952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1430000" y="49301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885952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1430000" y="53530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85952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1430000" y="577596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9062720" y="46278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469880" y="4577080"/>
            <a:ext cx="822960" cy="228600"/>
          </a:xfrm>
          <a:prstGeom prst="rect">
            <a:avLst/>
          </a:prstGeom>
          <a:noFill/>
        </p:spPr>
        <p:txBody>
          <a:bodyPr wrap="none" lIns="0" tIns="0" rIns="0" bIns="0">
            <a:spAutoFit/>
          </a:bodyPr>
          <a:lstStyle/>
          <a:p>
            <a:pPr algn="r">
              <a:defRPr sz="850" b="1">
                <a:solidFill>
                  <a:srgbClr val="D9A45B"/>
                </a:solidFill>
                <a:latin typeface="Consolas"/>
              </a:defRPr>
            </a:pPr>
            <a:r>
              <a:t>REG_04</a:t>
            </a:r>
          </a:p>
        </p:txBody>
      </p:sp>
      <p:sp>
        <p:nvSpPr>
          <p:cNvPr id="61" name="TextBox 60"/>
          <p:cNvSpPr txBox="1"/>
          <p:nvPr/>
        </p:nvSpPr>
        <p:spPr>
          <a:xfrm>
            <a:off x="9125712" y="4636008"/>
            <a:ext cx="2139696" cy="1472184"/>
          </a:xfrm>
          <a:prstGeom prst="rect">
            <a:avLst/>
          </a:prstGeom>
          <a:noFill/>
        </p:spPr>
        <p:txBody>
          <a:bodyPr wrap="square" lIns="0" tIns="0" rIns="0" bIns="0">
            <a:spAutoFit/>
          </a:bodyPr>
          <a:lstStyle/>
          <a:p>
            <a:pPr>
              <a:defRPr sz="1000" b="1">
                <a:solidFill>
                  <a:srgbClr val="8CB9AA"/>
                </a:solidFill>
                <a:latin typeface="Consolas"/>
              </a:defRPr>
            </a:pPr>
            <a:r>
              <a:t>DOWNTIME SAVINGS</a:t>
            </a:r>
          </a:p>
          <a:p>
            <a:pPr>
              <a:defRPr sz="2200" b="1">
                <a:solidFill>
                  <a:srgbClr val="E8C27A"/>
                </a:solidFill>
                <a:latin typeface="Segoe UI"/>
              </a:defRPr>
            </a:pPr>
            <a:r>
              <a:t>87.9 PERCENT</a:t>
            </a:r>
          </a:p>
          <a:p>
            <a:pPr>
              <a:defRPr sz="950">
                <a:solidFill>
                  <a:srgbClr val="D9A45B"/>
                </a:solidFill>
                <a:latin typeface="Consolas"/>
              </a:defRPr>
            </a:pPr>
            <a:r>
              <a:t>$2.24M saved in plant runs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PROBLEM STATEMENT // INDUSTRIAL CONTEXT // REF: BUS_ALERT</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Moving from predictive warnings to prescriptive repair actions</a:t>
            </a:r>
          </a:p>
          <a:p>
            <a:pPr>
              <a:defRPr sz="1000">
                <a:solidFill>
                  <a:srgbClr val="8CB9AA"/>
                </a:solidFill>
                <a:latin typeface="Consolas"/>
              </a:defRPr>
            </a:pPr>
            <a:r>
              <a:t>HOW ALARM-ONLY MONITORING LEADS TO EITHER WASTEFUL OVERHAULS OR COSTLY PUMP SEIZURES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59936"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059936"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59936"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059936"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34056"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[ALARM]</a:t>
            </a:r>
          </a:p>
        </p:txBody>
      </p:sp>
      <p:sp>
        <p:nvSpPr>
          <p:cNvPr id="32" name="TextBox 31"/>
          <p:cNvSpPr txBox="1"/>
          <p:nvPr/>
        </p:nvSpPr>
        <p:spPr>
          <a:xfrm>
            <a:off x="960120" y="1709928"/>
            <a:ext cx="1865376" cy="274320"/>
          </a:xfrm>
          <a:prstGeom prst="rect">
            <a:avLst/>
          </a:prstGeom>
          <a:noFill/>
        </p:spPr>
        <p:txBody>
          <a:bodyPr wrap="square" lIns="0" tIns="0" rIns="0" bIns="0">
            <a:spAutoFit/>
          </a:bodyPr>
          <a:lstStyle/>
          <a:p>
            <a:pPr>
              <a:defRPr sz="1300" b="1">
                <a:solidFill>
                  <a:srgbClr val="E8C27A"/>
                </a:solidFill>
                <a:latin typeface="Segoe UI"/>
              </a:defRPr>
            </a:pPr>
            <a:r>
              <a:t>THE ALERT TRAP</a:t>
            </a:r>
          </a:p>
        </p:txBody>
      </p:sp>
      <p:sp>
        <p:nvSpPr>
          <p:cNvPr id="33" name="TextBox 32"/>
          <p:cNvSpPr txBox="1"/>
          <p:nvPr/>
        </p:nvSpPr>
        <p:spPr>
          <a:xfrm>
            <a:off x="960120" y="2075688"/>
            <a:ext cx="2871216" cy="777240"/>
          </a:xfrm>
          <a:prstGeom prst="rect">
            <a:avLst/>
          </a:prstGeom>
          <a:noFill/>
        </p:spPr>
        <p:txBody>
          <a:bodyPr wrap="square" lIns="0" tIns="0" rIns="0" bIns="0">
            <a:spAutoFit/>
          </a:bodyPr>
          <a:lstStyle/>
          <a:p>
            <a:pPr>
              <a:defRPr sz="2200" b="1">
                <a:solidFill>
                  <a:srgbClr val="E8C27A"/>
                </a:solidFill>
                <a:latin typeface="Segoe UI"/>
              </a:defRPr>
            </a:pPr>
            <a:r>
              <a:t>ALERTS</a:t>
            </a:r>
          </a:p>
          <a:p>
            <a:pPr>
              <a:defRPr sz="950" b="1">
                <a:solidFill>
                  <a:srgbClr val="D9A45B"/>
                </a:solidFill>
                <a:latin typeface="Consolas"/>
              </a:defRPr>
            </a:pPr>
            <a:r>
              <a:t>NO ACTIONS</a:t>
            </a:r>
          </a:p>
        </p:txBody>
      </p:sp>
      <p:sp>
        <p:nvSpPr>
          <p:cNvPr id="34" name="TextBox 33"/>
          <p:cNvSpPr txBox="1"/>
          <p:nvPr/>
        </p:nvSpPr>
        <p:spPr>
          <a:xfrm>
            <a:off x="960120" y="2898648"/>
            <a:ext cx="2871216"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Predictive Alarmism: </a:t>
            </a:r>
            <a:r>
              <a:rPr sz="1150">
                <a:solidFill>
                  <a:srgbClr val="8CB9AA"/>
                </a:solidFill>
                <a:latin typeface="Consolas"/>
              </a:rPr>
              <a:t>Most industrial monitoring stops at remaining useful life numbers or anomaly scores. It tells operators something is failing, but not what to do about it.</a:t>
            </a:r>
          </a:p>
          <a:p>
            <a:pPr>
              <a:spcAft>
                <a:spcPts val="550"/>
              </a:spcAft>
            </a:pPr>
            <a:r>
              <a:rPr sz="1200" b="1">
                <a:solidFill>
                  <a:srgbClr val="D9A45B"/>
                </a:solidFill>
                <a:latin typeface="Consolas"/>
              </a:rPr>
              <a:t>Alert Skepticism: </a:t>
            </a:r>
            <a:r>
              <a:rPr sz="1150">
                <a:solidFill>
                  <a:srgbClr val="8CB9AA"/>
                </a:solidFill>
                <a:latin typeface="Consolas"/>
              </a:rPr>
              <a:t>Control rooms receive dozens of warnings daily. Without ranked actions, technicians end up ignoring warnings until the machine locks up.</a:t>
            </a:r>
          </a:p>
        </p:txBody>
      </p:sp>
      <p:sp>
        <p:nvSpPr>
          <p:cNvPr id="35" name="Rectangle 34"/>
          <p:cNvSpPr/>
          <p:nvPr/>
        </p:nvSpPr>
        <p:spPr>
          <a:xfrm>
            <a:off x="4425696"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324096"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754112"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324096"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754112"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4324096"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54112"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324096"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754112"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527296"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28232"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[LOSS]</a:t>
            </a:r>
          </a:p>
        </p:txBody>
      </p:sp>
      <p:sp>
        <p:nvSpPr>
          <p:cNvPr id="46" name="TextBox 45"/>
          <p:cNvSpPr txBox="1"/>
          <p:nvPr/>
        </p:nvSpPr>
        <p:spPr>
          <a:xfrm>
            <a:off x="4654296" y="1709928"/>
            <a:ext cx="1865376" cy="274320"/>
          </a:xfrm>
          <a:prstGeom prst="rect">
            <a:avLst/>
          </a:prstGeom>
          <a:noFill/>
        </p:spPr>
        <p:txBody>
          <a:bodyPr wrap="square" lIns="0" tIns="0" rIns="0" bIns="0">
            <a:spAutoFit/>
          </a:bodyPr>
          <a:lstStyle/>
          <a:p>
            <a:pPr>
              <a:defRPr sz="1300" b="1">
                <a:solidFill>
                  <a:srgbClr val="E8C27A"/>
                </a:solidFill>
                <a:latin typeface="Segoe UI"/>
              </a:defRPr>
            </a:pPr>
            <a:r>
              <a:t>BREAKDOWN COST</a:t>
            </a:r>
          </a:p>
        </p:txBody>
      </p:sp>
      <p:sp>
        <p:nvSpPr>
          <p:cNvPr id="47" name="TextBox 46"/>
          <p:cNvSpPr txBox="1"/>
          <p:nvPr/>
        </p:nvSpPr>
        <p:spPr>
          <a:xfrm>
            <a:off x="4654296" y="2075688"/>
            <a:ext cx="2871216" cy="777240"/>
          </a:xfrm>
          <a:prstGeom prst="rect">
            <a:avLst/>
          </a:prstGeom>
          <a:noFill/>
        </p:spPr>
        <p:txBody>
          <a:bodyPr wrap="square" lIns="0" tIns="0" rIns="0" bIns="0">
            <a:spAutoFit/>
          </a:bodyPr>
          <a:lstStyle/>
          <a:p>
            <a:pPr>
              <a:defRPr sz="2200" b="1">
                <a:solidFill>
                  <a:srgbClr val="E8C27A"/>
                </a:solidFill>
                <a:latin typeface="Segoe UI"/>
              </a:defRPr>
            </a:pPr>
            <a:r>
              <a:t>$2.55M</a:t>
            </a:r>
          </a:p>
          <a:p>
            <a:pPr>
              <a:defRPr sz="950" b="1">
                <a:solidFill>
                  <a:srgbClr val="D9A45B"/>
                </a:solidFill>
                <a:latin typeface="Consolas"/>
              </a:defRPr>
            </a:pPr>
            <a:r>
              <a:t>UNPLANNED LOSSES</a:t>
            </a:r>
          </a:p>
        </p:txBody>
      </p:sp>
      <p:sp>
        <p:nvSpPr>
          <p:cNvPr id="48" name="TextBox 47"/>
          <p:cNvSpPr txBox="1"/>
          <p:nvPr/>
        </p:nvSpPr>
        <p:spPr>
          <a:xfrm>
            <a:off x="4654296" y="2898648"/>
            <a:ext cx="2871216"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Direct Financial Impact: </a:t>
            </a:r>
            <a:r>
              <a:rPr sz="1150">
                <a:solidFill>
                  <a:srgbClr val="8CB9AA"/>
                </a:solidFill>
                <a:latin typeface="Consolas"/>
              </a:rPr>
              <a:t>In our factory test fleet, emergency slurry pump failures caused 2.55 million dollars in downtime losses over 18 months.</a:t>
            </a:r>
          </a:p>
          <a:p>
            <a:pPr>
              <a:spcAft>
                <a:spcPts val="550"/>
              </a:spcAft>
            </a:pPr>
            <a:r>
              <a:rPr sz="1200" b="1">
                <a:solidFill>
                  <a:srgbClr val="D9A45B"/>
                </a:solidFill>
                <a:latin typeface="Consolas"/>
              </a:rPr>
              <a:t>Lost Production Time: </a:t>
            </a:r>
            <a:r>
              <a:rPr sz="1150">
                <a:solidFill>
                  <a:srgbClr val="8CB9AA"/>
                </a:solidFill>
                <a:latin typeface="Consolas"/>
              </a:rPr>
              <a:t>Six pumps accumulated 111 total hours offline, mostly from worn seals and seized mechanical bearings that were not caught early.</a:t>
            </a:r>
          </a:p>
        </p:txBody>
      </p:sp>
      <p:sp>
        <p:nvSpPr>
          <p:cNvPr id="49" name="Rectangle 48"/>
          <p:cNvSpPr/>
          <p:nvPr/>
        </p:nvSpPr>
        <p:spPr>
          <a:xfrm>
            <a:off x="8119872"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018272"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448288"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18272"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1448288"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018272"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1448288"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8018272"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1448288"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1472"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U3 [ACTION]</a:t>
            </a:r>
          </a:p>
        </p:txBody>
      </p:sp>
      <p:sp>
        <p:nvSpPr>
          <p:cNvPr id="60" name="TextBox 59"/>
          <p:cNvSpPr txBox="1"/>
          <p:nvPr/>
        </p:nvSpPr>
        <p:spPr>
          <a:xfrm>
            <a:off x="8348472" y="1709928"/>
            <a:ext cx="1865376" cy="274320"/>
          </a:xfrm>
          <a:prstGeom prst="rect">
            <a:avLst/>
          </a:prstGeom>
          <a:noFill/>
        </p:spPr>
        <p:txBody>
          <a:bodyPr wrap="square" lIns="0" tIns="0" rIns="0" bIns="0">
            <a:spAutoFit/>
          </a:bodyPr>
          <a:lstStyle/>
          <a:p>
            <a:pPr>
              <a:defRPr sz="1300" b="1">
                <a:solidFill>
                  <a:srgbClr val="E8C27A"/>
                </a:solidFill>
                <a:latin typeface="Segoe UI"/>
              </a:defRPr>
            </a:pPr>
            <a:r>
              <a:t>THE PRESCRIPTIVE FIX</a:t>
            </a:r>
          </a:p>
        </p:txBody>
      </p:sp>
      <p:sp>
        <p:nvSpPr>
          <p:cNvPr id="61" name="TextBox 60"/>
          <p:cNvSpPr txBox="1"/>
          <p:nvPr/>
        </p:nvSpPr>
        <p:spPr>
          <a:xfrm>
            <a:off x="8348472" y="2075688"/>
            <a:ext cx="2871216" cy="777240"/>
          </a:xfrm>
          <a:prstGeom prst="rect">
            <a:avLst/>
          </a:prstGeom>
          <a:noFill/>
        </p:spPr>
        <p:txBody>
          <a:bodyPr wrap="square" lIns="0" tIns="0" rIns="0" bIns="0">
            <a:spAutoFit/>
          </a:bodyPr>
          <a:lstStyle/>
          <a:p>
            <a:pPr>
              <a:defRPr sz="2200" b="1">
                <a:solidFill>
                  <a:srgbClr val="E8C27A"/>
                </a:solidFill>
                <a:latin typeface="Segoe UI"/>
              </a:defRPr>
            </a:pPr>
            <a:r>
              <a:t>21 ACTIONS</a:t>
            </a:r>
          </a:p>
          <a:p>
            <a:pPr>
              <a:defRPr sz="950" b="1">
                <a:solidFill>
                  <a:srgbClr val="D9A45B"/>
                </a:solidFill>
                <a:latin typeface="Consolas"/>
              </a:defRPr>
            </a:pPr>
            <a:r>
              <a:t>DISPATCH READY</a:t>
            </a:r>
          </a:p>
        </p:txBody>
      </p:sp>
      <p:sp>
        <p:nvSpPr>
          <p:cNvPr id="62" name="TextBox 61"/>
          <p:cNvSpPr txBox="1"/>
          <p:nvPr/>
        </p:nvSpPr>
        <p:spPr>
          <a:xfrm>
            <a:off x="8348472" y="2898648"/>
            <a:ext cx="2871216"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Direct Action Mapping: </a:t>
            </a:r>
            <a:r>
              <a:rPr sz="1150">
                <a:solidFill>
                  <a:srgbClr val="8CB9AA"/>
                </a:solidFill>
                <a:latin typeface="Consolas"/>
              </a:rPr>
              <a:t>Our multi-agent system links incoming sensor patterns to a ranked list of 21 standard maintenance tasks.</a:t>
            </a:r>
          </a:p>
          <a:p>
            <a:pPr>
              <a:spcAft>
                <a:spcPts val="550"/>
              </a:spcAft>
            </a:pPr>
            <a:r>
              <a:rPr sz="1200" b="1">
                <a:solidFill>
                  <a:srgbClr val="D9A45B"/>
                </a:solidFill>
                <a:latin typeface="Consolas"/>
              </a:rPr>
              <a:t>Practical Dispatch: </a:t>
            </a:r>
            <a:r>
              <a:rPr sz="1150">
                <a:solidFill>
                  <a:srgbClr val="8CB9AA"/>
                </a:solidFill>
                <a:latin typeface="Consolas"/>
              </a:rPr>
              <a:t>Instead of guessing, the technician receives a concrete recommendation, such as flushing a seal or adding grease, before failure strikes.</a:t>
            </a:r>
          </a:p>
        </p:txBody>
      </p:sp>
      <p:cxnSp>
        <p:nvCxnSpPr>
          <p:cNvPr id="63" name="Connector 62"/>
          <p:cNvCxnSpPr/>
          <p:nvPr/>
        </p:nvCxnSpPr>
        <p:spPr>
          <a:xfrm>
            <a:off x="4059936" y="347472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3983736"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4021836"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4349496"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4387596"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8" name="Connector 67"/>
          <p:cNvCxnSpPr/>
          <p:nvPr/>
        </p:nvCxnSpPr>
        <p:spPr>
          <a:xfrm>
            <a:off x="7754112" y="347472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7677912"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7716012"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043672"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081772"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METHODOLOGY // PROJECT FOCUS // REF: BUS_AXIOMS</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Core project goals and practical operational guardrails</a:t>
            </a:r>
          </a:p>
          <a:p>
            <a:pPr>
              <a:defRPr sz="1000">
                <a:solidFill>
                  <a:srgbClr val="8CB9AA"/>
                </a:solidFill>
                <a:latin typeface="Consolas"/>
              </a:defRPr>
            </a:pPr>
            <a:r>
              <a:t>HOW WE STRUCTURED THE SYSTEM TO PREVENT DATA LEAKAGE AND TEST REAL GENERALIZATION</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702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0702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702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0702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[GOALS]</a:t>
            </a:r>
          </a:p>
        </p:txBody>
      </p:sp>
      <p:sp>
        <p:nvSpPr>
          <p:cNvPr id="32" name="TextBox 31"/>
          <p:cNvSpPr txBox="1"/>
          <p:nvPr/>
        </p:nvSpPr>
        <p:spPr>
          <a:xfrm>
            <a:off x="960120" y="1709928"/>
            <a:ext cx="3712464" cy="274320"/>
          </a:xfrm>
          <a:prstGeom prst="rect">
            <a:avLst/>
          </a:prstGeom>
          <a:noFill/>
        </p:spPr>
        <p:txBody>
          <a:bodyPr wrap="square" lIns="0" tIns="0" rIns="0" bIns="0">
            <a:spAutoFit/>
          </a:bodyPr>
          <a:lstStyle/>
          <a:p>
            <a:pPr>
              <a:defRPr sz="1300" b="1">
                <a:solidFill>
                  <a:srgbClr val="E8C27A"/>
                </a:solidFill>
                <a:latin typeface="Segoe UI"/>
              </a:defRPr>
            </a:pPr>
            <a:r>
              <a:t>CORE PROJECT GOALS</a:t>
            </a:r>
          </a:p>
        </p:txBody>
      </p:sp>
      <p:sp>
        <p:nvSpPr>
          <p:cNvPr id="33" name="TextBox 32"/>
          <p:cNvSpPr txBox="1"/>
          <p:nvPr/>
        </p:nvSpPr>
        <p:spPr>
          <a:xfrm>
            <a:off x="960120"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Zero-Shot Generalization: </a:t>
            </a:r>
            <a:r>
              <a:rPr sz="1150">
                <a:solidFill>
                  <a:srgbClr val="8CB9AA"/>
                </a:solidFill>
                <a:latin typeface="Consolas"/>
              </a:rPr>
              <a:t>Determine whether an action-ranking model trained on mixed public datasets can recommend correct actions on machinery it has never seen before.</a:t>
            </a:r>
          </a:p>
          <a:p>
            <a:pPr>
              <a:spcAft>
                <a:spcPts val="550"/>
              </a:spcAft>
            </a:pPr>
            <a:r>
              <a:rPr sz="1200" b="1">
                <a:solidFill>
                  <a:srgbClr val="D9A45B"/>
                </a:solidFill>
                <a:latin typeface="Consolas"/>
              </a:rPr>
              <a:t>Understanding Maintenance Gaps: </a:t>
            </a:r>
            <a:r>
              <a:rPr sz="1150">
                <a:solidFill>
                  <a:srgbClr val="8CB9AA"/>
                </a:solidFill>
                <a:latin typeface="Consolas"/>
              </a:rPr>
              <a:t>Find out why automated recommendations diverge from human calendar overhauls, especially on healthy assets.</a:t>
            </a:r>
          </a:p>
          <a:p>
            <a:pPr>
              <a:spcAft>
                <a:spcPts val="550"/>
              </a:spcAft>
            </a:pPr>
            <a:r>
              <a:rPr sz="1200" b="1">
                <a:solidFill>
                  <a:srgbClr val="D9A45B"/>
                </a:solidFill>
                <a:latin typeface="Consolas"/>
              </a:rPr>
              <a:t>Few-Shot Plant Tuning: </a:t>
            </a:r>
            <a:r>
              <a:rPr sz="1150">
                <a:solidFill>
                  <a:srgbClr val="8CB9AA"/>
                </a:solidFill>
                <a:latin typeface="Consolas"/>
              </a:rPr>
              <a:t>Test whether feeding a small handful of initial plant work orders into the model can lift accuracy on future breakdowns.</a:t>
            </a:r>
          </a:p>
        </p:txBody>
      </p:sp>
      <p:sp>
        <p:nvSpPr>
          <p:cNvPr id="34" name="Rectangle 33"/>
          <p:cNvSpPr/>
          <p:nvPr/>
        </p:nvSpPr>
        <p:spPr>
          <a:xfrm>
            <a:off x="6272784"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118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48288"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118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48288"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118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48288"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118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448288"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438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[RULES]</a:t>
            </a:r>
          </a:p>
        </p:txBody>
      </p:sp>
      <p:sp>
        <p:nvSpPr>
          <p:cNvPr id="45" name="TextBox 44"/>
          <p:cNvSpPr txBox="1"/>
          <p:nvPr/>
        </p:nvSpPr>
        <p:spPr>
          <a:xfrm>
            <a:off x="6501384" y="1709928"/>
            <a:ext cx="3712464" cy="274320"/>
          </a:xfrm>
          <a:prstGeom prst="rect">
            <a:avLst/>
          </a:prstGeom>
          <a:noFill/>
        </p:spPr>
        <p:txBody>
          <a:bodyPr wrap="square" lIns="0" tIns="0" rIns="0" bIns="0">
            <a:spAutoFit/>
          </a:bodyPr>
          <a:lstStyle/>
          <a:p>
            <a:pPr>
              <a:defRPr sz="1300" b="1">
                <a:solidFill>
                  <a:srgbClr val="E8C27A"/>
                </a:solidFill>
                <a:latin typeface="Segoe UI"/>
              </a:defRPr>
            </a:pPr>
            <a:r>
              <a:t>OPERATIONAL GUARDRAILS</a:t>
            </a:r>
          </a:p>
        </p:txBody>
      </p:sp>
      <p:sp>
        <p:nvSpPr>
          <p:cNvPr id="46" name="TextBox 45"/>
          <p:cNvSpPr txBox="1"/>
          <p:nvPr/>
        </p:nvSpPr>
        <p:spPr>
          <a:xfrm>
            <a:off x="6501384"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Real Work Orders as Ground Truth: </a:t>
            </a:r>
            <a:r>
              <a:rPr sz="1150">
                <a:solidFill>
                  <a:srgbClr val="8CB9AA"/>
                </a:solidFill>
                <a:latin typeface="Consolas"/>
              </a:rPr>
              <a:t>We evaluated models against actual plant maintenance logs rather than synthetic failure generators.</a:t>
            </a:r>
          </a:p>
          <a:p>
            <a:pPr>
              <a:spcAft>
                <a:spcPts val="550"/>
              </a:spcAft>
            </a:pPr>
            <a:r>
              <a:rPr sz="1200" b="1">
                <a:solidFill>
                  <a:srgbClr val="D9A45B"/>
                </a:solidFill>
                <a:latin typeface="Consolas"/>
              </a:rPr>
              <a:t>Strict Timestamp Isolation: </a:t>
            </a:r>
            <a:r>
              <a:rPr sz="1150">
                <a:solidFill>
                  <a:srgbClr val="8CB9AA"/>
                </a:solidFill>
                <a:latin typeface="Consolas"/>
              </a:rPr>
              <a:t>Feature aggregation windows strictly preceded the recommendation timestamp. The model never peeked into future sensor readings.</a:t>
            </a:r>
          </a:p>
          <a:p>
            <a:pPr>
              <a:spcAft>
                <a:spcPts val="550"/>
              </a:spcAft>
            </a:pPr>
            <a:r>
              <a:rPr sz="1200" b="1">
                <a:solidFill>
                  <a:srgbClr val="D9A45B"/>
                </a:solidFill>
                <a:latin typeface="Consolas"/>
              </a:rPr>
              <a:t>Frozen Model Weights: </a:t>
            </a:r>
            <a:r>
              <a:rPr sz="1150">
                <a:solidFill>
                  <a:srgbClr val="8CB9AA"/>
                </a:solidFill>
                <a:latin typeface="Consolas"/>
              </a:rPr>
              <a:t>Phase 4 model parameters were locked before running any external plant evaluations. This prevented tuning on the test set.</a:t>
            </a:r>
          </a:p>
        </p:txBody>
      </p:sp>
      <p:cxnSp>
        <p:nvCxnSpPr>
          <p:cNvPr id="47" name="Connector 46"/>
          <p:cNvCxnSpPr/>
          <p:nvPr/>
        </p:nvCxnSpPr>
        <p:spPr>
          <a:xfrm>
            <a:off x="5907024" y="365760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5830824"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68924"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196584"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234684"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SYSTEM ARCHITECTURE // DATA FLOW // REF: BUS_PIPE_5</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The five-phase multi-agent system pipeline</a:t>
            </a:r>
          </a:p>
          <a:p>
            <a:pPr>
              <a:defRPr sz="1000">
                <a:solidFill>
                  <a:srgbClr val="8CB9AA"/>
                </a:solidFill>
                <a:latin typeface="Consolas"/>
              </a:defRPr>
            </a:pPr>
            <a:r>
              <a:t>CLOSED-LOOP INTERACTION BETWEEN TELEMETRY AGENTS, HYBRID RANKING, AND CMMS DISPATCH</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[PIPELINE-SPEC]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PIPELINE ARCHITECTURE</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5 PHASES</a:t>
            </a:r>
          </a:p>
          <a:p>
            <a:pPr>
              <a:defRPr sz="950" b="1">
                <a:solidFill>
                  <a:srgbClr val="D9A45B"/>
                </a:solidFill>
                <a:latin typeface="Consolas"/>
              </a:defRPr>
            </a:pPr>
            <a:r>
              <a:t>CLOSED-LOOP MAS</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1. Telemetry Ingestion: </a:t>
            </a:r>
            <a:r>
              <a:rPr sz="1150">
                <a:solidFill>
                  <a:srgbClr val="8CB9AA"/>
                </a:solidFill>
                <a:latin typeface="Consolas"/>
              </a:rPr>
              <a:t>Streams high-frequency vibration, temperatures, and pressures while quarantining future target records.</a:t>
            </a:r>
          </a:p>
          <a:p>
            <a:pPr>
              <a:spcAft>
                <a:spcPts val="550"/>
              </a:spcAft>
            </a:pPr>
            <a:r>
              <a:rPr sz="1200" b="1">
                <a:solidFill>
                  <a:srgbClr val="D9A45B"/>
                </a:solidFill>
                <a:latin typeface="Consolas"/>
              </a:rPr>
              <a:t>2. Semantic State (CMSR): </a:t>
            </a:r>
            <a:r>
              <a:rPr sz="1150">
                <a:solidFill>
                  <a:srgbClr val="8CB9AA"/>
                </a:solidFill>
                <a:latin typeface="Consolas"/>
              </a:rPr>
              <a:t>Normalizes 730 raw channels into 24 physical quantities in metric SI units.</a:t>
            </a:r>
          </a:p>
          <a:p>
            <a:pPr>
              <a:spcAft>
                <a:spcPts val="550"/>
              </a:spcAft>
            </a:pPr>
            <a:r>
              <a:rPr sz="1200" b="1">
                <a:solidFill>
                  <a:srgbClr val="D9A45B"/>
                </a:solidFill>
                <a:latin typeface="Consolas"/>
              </a:rPr>
              <a:t>3. Pruning &amp; LLM Preferences: </a:t>
            </a:r>
            <a:r>
              <a:rPr sz="1150">
                <a:solidFill>
                  <a:srgbClr val="8CB9AA"/>
                </a:solidFill>
                <a:latin typeface="Consolas"/>
              </a:rPr>
              <a:t>Prunes steady-state noise to 1,023 DecisionStates, then uses LLM cascades to harvest training pairs.</a:t>
            </a:r>
          </a:p>
          <a:p>
            <a:pPr>
              <a:spcAft>
                <a:spcPts val="550"/>
              </a:spcAft>
            </a:pPr>
            <a:r>
              <a:rPr sz="1200" b="1">
                <a:solidFill>
                  <a:srgbClr val="D9A45B"/>
                </a:solidFill>
                <a:latin typeface="Consolas"/>
              </a:rPr>
              <a:t>4. Frozen Hybrid Ranking: </a:t>
            </a:r>
            <a:r>
              <a:rPr sz="1150">
                <a:solidFill>
                  <a:srgbClr val="8CB9AA"/>
                </a:solidFill>
                <a:latin typeface="Consolas"/>
              </a:rPr>
              <a:t>Fuses LightGBM LambdaRank with Case-Based Reasoning to score maintenance actions in milliseconds.</a:t>
            </a:r>
          </a:p>
          <a:p>
            <a:pPr>
              <a:spcAft>
                <a:spcPts val="550"/>
              </a:spcAft>
            </a:pPr>
            <a:r>
              <a:rPr sz="1200" b="1">
                <a:solidFill>
                  <a:srgbClr val="D9A45B"/>
                </a:solidFill>
                <a:latin typeface="Consolas"/>
              </a:rPr>
              <a:t>5. Closed-Loop Plant Dispatch: </a:t>
            </a:r>
            <a:r>
              <a:rPr sz="1150">
                <a:solidFill>
                  <a:srgbClr val="8CB9AA"/>
                </a:solidFill>
                <a:latin typeface="Consolas"/>
              </a:rPr>
              <a:t>Evaluates recommendations against physical work orders, tracking cost and health feedback.</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[SYSTEM-DIAGRAM]</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CLOSED-LOOP SYSTEM SCHEMATIC</a:t>
            </a:r>
          </a:p>
        </p:txBody>
      </p:sp>
      <p:sp>
        <p:nvSpPr>
          <p:cNvPr id="47" name="Rectangle 46"/>
          <p:cNvSpPr/>
          <p:nvPr/>
        </p:nvSpPr>
        <p:spPr>
          <a:xfrm>
            <a:off x="5570728" y="2327103"/>
            <a:ext cx="5713679" cy="3118192"/>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phase5_architecture.png"/>
          <p:cNvPicPr>
            <a:picLocks noChangeAspect="1"/>
          </p:cNvPicPr>
          <p:nvPr/>
        </p:nvPicPr>
        <p:blipFill>
          <a:blip r:embed="rId3"/>
          <a:stretch>
            <a:fillRect/>
          </a:stretch>
        </p:blipFill>
        <p:spPr>
          <a:xfrm>
            <a:off x="5596128" y="2352503"/>
            <a:ext cx="5662879" cy="3067392"/>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VERIFIED MULTI-AGENT INTERACTION LOOP ACROSS HISTORICAL REPLAY (MODE A) AND SURROGATE SIMULATION (MODE B)</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END-TO-END TIMELINE // CONCRETE CASE STUDY // REF: BUS_LIFECYCLE</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Life of a machine state: tracing asset PUMP-01 through the five phases</a:t>
            </a:r>
          </a:p>
          <a:p>
            <a:pPr>
              <a:defRPr sz="1000">
                <a:solidFill>
                  <a:srgbClr val="8CB9AA"/>
                </a:solidFill>
                <a:latin typeface="Consolas"/>
              </a:defRPr>
            </a:pPr>
            <a:r>
              <a:t>HOW RAW VIBRATION PEAKS TRANSFORM INTO A GROUNDED BEARING REPLACEMENT IN PRODUCTION</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1993392" cy="32461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724912"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24912"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724912"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764792" y="1651000"/>
            <a:ext cx="822960" cy="228600"/>
          </a:xfrm>
          <a:prstGeom prst="rect">
            <a:avLst/>
          </a:prstGeom>
          <a:noFill/>
        </p:spPr>
        <p:txBody>
          <a:bodyPr wrap="none" lIns="0" tIns="0" rIns="0" bIns="0">
            <a:spAutoFit/>
          </a:bodyPr>
          <a:lstStyle/>
          <a:p>
            <a:pPr algn="r">
              <a:defRPr sz="850" b="1">
                <a:solidFill>
                  <a:srgbClr val="D9A45B"/>
                </a:solidFill>
                <a:latin typeface="Consolas"/>
              </a:defRPr>
            </a:pPr>
            <a:r>
              <a:t>U1 [PH1]</a:t>
            </a:r>
          </a:p>
        </p:txBody>
      </p:sp>
      <p:sp>
        <p:nvSpPr>
          <p:cNvPr id="30" name="TextBox 29"/>
          <p:cNvSpPr txBox="1"/>
          <p:nvPr/>
        </p:nvSpPr>
        <p:spPr>
          <a:xfrm>
            <a:off x="868680" y="1803400"/>
            <a:ext cx="1719072" cy="274320"/>
          </a:xfrm>
          <a:prstGeom prst="rect">
            <a:avLst/>
          </a:prstGeom>
          <a:noFill/>
        </p:spPr>
        <p:txBody>
          <a:bodyPr wrap="square" lIns="0" tIns="0" rIns="0" bIns="0">
            <a:spAutoFit/>
          </a:bodyPr>
          <a:lstStyle/>
          <a:p>
            <a:pPr>
              <a:defRPr sz="1050" b="1">
                <a:solidFill>
                  <a:srgbClr val="E8C27A"/>
                </a:solidFill>
                <a:latin typeface="Segoe UI"/>
              </a:defRPr>
            </a:pPr>
            <a:r>
              <a:t>1. RAW SENSORS</a:t>
            </a:r>
          </a:p>
        </p:txBody>
      </p:sp>
      <p:sp>
        <p:nvSpPr>
          <p:cNvPr id="31" name="TextBox 30"/>
          <p:cNvSpPr txBox="1"/>
          <p:nvPr/>
        </p:nvSpPr>
        <p:spPr>
          <a:xfrm>
            <a:off x="868680" y="2130552"/>
            <a:ext cx="1719072" cy="2624328"/>
          </a:xfrm>
          <a:prstGeom prst="rect">
            <a:avLst/>
          </a:prstGeom>
          <a:noFill/>
        </p:spPr>
        <p:txBody>
          <a:bodyPr wrap="square" lIns="0" tIns="0" rIns="0" bIns="0">
            <a:spAutoFit/>
          </a:bodyPr>
          <a:lstStyle/>
          <a:p>
            <a:pPr>
              <a:spcAft>
                <a:spcPts val="250"/>
              </a:spcAft>
            </a:pPr>
            <a:r>
              <a:rPr sz="950" b="1">
                <a:solidFill>
                  <a:srgbClr val="D9A45B"/>
                </a:solidFill>
                <a:latin typeface="Consolas"/>
              </a:rPr>
              <a:t>Asset: </a:t>
            </a:r>
            <a:r>
              <a:rPr sz="900">
                <a:solidFill>
                  <a:srgbClr val="8CB9AA"/>
                </a:solidFill>
                <a:latin typeface="Consolas"/>
              </a:rPr>
              <a:t>Slurry Pump #1</a:t>
            </a:r>
          </a:p>
          <a:p>
            <a:pPr>
              <a:spcAft>
                <a:spcPts val="250"/>
              </a:spcAft>
            </a:pPr>
            <a:r>
              <a:rPr sz="950" b="1">
                <a:solidFill>
                  <a:srgbClr val="D9A45B"/>
                </a:solidFill>
                <a:latin typeface="Consolas"/>
              </a:rPr>
              <a:t>Vibration: </a:t>
            </a:r>
            <a:r>
              <a:rPr sz="900">
                <a:solidFill>
                  <a:srgbClr val="8CB9AA"/>
                </a:solidFill>
                <a:latin typeface="Consolas"/>
              </a:rPr>
              <a:t>12.4 mm/s RMS</a:t>
            </a:r>
          </a:p>
          <a:p>
            <a:pPr>
              <a:spcAft>
                <a:spcPts val="250"/>
              </a:spcAft>
            </a:pPr>
            <a:r>
              <a:rPr sz="950" b="1">
                <a:solidFill>
                  <a:srgbClr val="D9A45B"/>
                </a:solidFill>
                <a:latin typeface="Consolas"/>
              </a:rPr>
              <a:t>Bearing Temp: </a:t>
            </a:r>
            <a:r>
              <a:rPr sz="900">
                <a:solidFill>
                  <a:srgbClr val="8CB9AA"/>
                </a:solidFill>
                <a:latin typeface="Consolas"/>
              </a:rPr>
              <a:t>78.3 deg C</a:t>
            </a:r>
          </a:p>
          <a:p>
            <a:pPr>
              <a:spcAft>
                <a:spcPts val="250"/>
              </a:spcAft>
            </a:pPr>
            <a:r>
              <a:rPr sz="950" b="1">
                <a:solidFill>
                  <a:srgbClr val="D9A45B"/>
                </a:solidFill>
                <a:latin typeface="Consolas"/>
              </a:rPr>
              <a:t>Pressure: </a:t>
            </a:r>
            <a:r>
              <a:rPr sz="900">
                <a:solidFill>
                  <a:srgbClr val="8CB9AA"/>
                </a:solidFill>
                <a:latin typeface="Consolas"/>
              </a:rPr>
              <a:t>2.1 bar suction</a:t>
            </a:r>
          </a:p>
          <a:p>
            <a:pPr>
              <a:spcAft>
                <a:spcPts val="250"/>
              </a:spcAft>
            </a:pPr>
            <a:r>
              <a:rPr sz="950" b="1">
                <a:solidFill>
                  <a:srgbClr val="D9A45B"/>
                </a:solidFill>
                <a:latin typeface="Consolas"/>
              </a:rPr>
              <a:t>Quarantine: </a:t>
            </a:r>
            <a:r>
              <a:rPr sz="900">
                <a:solidFill>
                  <a:srgbClr val="8CB9AA"/>
                </a:solidFill>
                <a:latin typeface="Consolas"/>
              </a:rPr>
              <a:t>Future log hidden</a:t>
            </a:r>
          </a:p>
        </p:txBody>
      </p:sp>
      <p:cxnSp>
        <p:nvCxnSpPr>
          <p:cNvPr id="32" name="Connector 31"/>
          <p:cNvCxnSpPr/>
          <p:nvPr/>
        </p:nvCxnSpPr>
        <p:spPr>
          <a:xfrm>
            <a:off x="2724912" y="3154680"/>
            <a:ext cx="1828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2648712"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686812"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831592"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869692"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907792" y="1600200"/>
            <a:ext cx="1993392" cy="32461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806192"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901184"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806192"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901184"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06192"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901184"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3009392"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41064" y="1651000"/>
            <a:ext cx="822960" cy="228600"/>
          </a:xfrm>
          <a:prstGeom prst="rect">
            <a:avLst/>
          </a:prstGeom>
          <a:noFill/>
        </p:spPr>
        <p:txBody>
          <a:bodyPr wrap="none" lIns="0" tIns="0" rIns="0" bIns="0">
            <a:spAutoFit/>
          </a:bodyPr>
          <a:lstStyle/>
          <a:p>
            <a:pPr algn="r">
              <a:defRPr sz="850" b="1">
                <a:solidFill>
                  <a:srgbClr val="D9A45B"/>
                </a:solidFill>
                <a:latin typeface="Consolas"/>
              </a:defRPr>
            </a:pPr>
            <a:r>
              <a:t>U2 [PH2]</a:t>
            </a:r>
          </a:p>
        </p:txBody>
      </p:sp>
      <p:sp>
        <p:nvSpPr>
          <p:cNvPr id="46" name="TextBox 45"/>
          <p:cNvSpPr txBox="1"/>
          <p:nvPr/>
        </p:nvSpPr>
        <p:spPr>
          <a:xfrm>
            <a:off x="3044952" y="1803400"/>
            <a:ext cx="1719072" cy="274320"/>
          </a:xfrm>
          <a:prstGeom prst="rect">
            <a:avLst/>
          </a:prstGeom>
          <a:noFill/>
        </p:spPr>
        <p:txBody>
          <a:bodyPr wrap="square" lIns="0" tIns="0" rIns="0" bIns="0">
            <a:spAutoFit/>
          </a:bodyPr>
          <a:lstStyle/>
          <a:p>
            <a:pPr>
              <a:defRPr sz="1050" b="1">
                <a:solidFill>
                  <a:srgbClr val="E8C27A"/>
                </a:solidFill>
                <a:latin typeface="Segoe UI"/>
              </a:defRPr>
            </a:pPr>
            <a:r>
              <a:t>2. CMSR VECTOR</a:t>
            </a:r>
          </a:p>
        </p:txBody>
      </p:sp>
      <p:sp>
        <p:nvSpPr>
          <p:cNvPr id="47" name="TextBox 46"/>
          <p:cNvSpPr txBox="1"/>
          <p:nvPr/>
        </p:nvSpPr>
        <p:spPr>
          <a:xfrm>
            <a:off x="3044952" y="2130552"/>
            <a:ext cx="1719072" cy="2624328"/>
          </a:xfrm>
          <a:prstGeom prst="rect">
            <a:avLst/>
          </a:prstGeom>
          <a:noFill/>
        </p:spPr>
        <p:txBody>
          <a:bodyPr wrap="square" lIns="0" tIns="0" rIns="0" bIns="0">
            <a:spAutoFit/>
          </a:bodyPr>
          <a:lstStyle/>
          <a:p>
            <a:pPr>
              <a:spcAft>
                <a:spcPts val="250"/>
              </a:spcAft>
            </a:pPr>
            <a:r>
              <a:rPr sz="950" b="1">
                <a:solidFill>
                  <a:srgbClr val="D9A45B"/>
                </a:solidFill>
                <a:latin typeface="Consolas"/>
              </a:rPr>
              <a:t>Dimension: </a:t>
            </a:r>
            <a:r>
              <a:rPr sz="900">
                <a:solidFill>
                  <a:srgbClr val="8CB9AA"/>
                </a:solidFill>
                <a:latin typeface="Consolas"/>
              </a:rPr>
              <a:t>95 features</a:t>
            </a:r>
          </a:p>
          <a:p>
            <a:pPr>
              <a:spcAft>
                <a:spcPts val="250"/>
              </a:spcAft>
            </a:pPr>
            <a:r>
              <a:rPr sz="950" b="1">
                <a:solidFill>
                  <a:srgbClr val="D9A45B"/>
                </a:solidFill>
                <a:latin typeface="Consolas"/>
              </a:rPr>
              <a:t>Modalities: </a:t>
            </a:r>
            <a:r>
              <a:rPr sz="900">
                <a:solidFill>
                  <a:srgbClr val="8CB9AA"/>
                </a:solidFill>
                <a:latin typeface="Consolas"/>
              </a:rPr>
              <a:t>Kinematic / Heat</a:t>
            </a:r>
          </a:p>
          <a:p>
            <a:pPr>
              <a:spcAft>
                <a:spcPts val="250"/>
              </a:spcAft>
            </a:pPr>
            <a:r>
              <a:rPr sz="950" b="1">
                <a:solidFill>
                  <a:srgbClr val="D9A45B"/>
                </a:solidFill>
                <a:latin typeface="Consolas"/>
              </a:rPr>
              <a:t>Health Index: </a:t>
            </a:r>
            <a:r>
              <a:rPr sz="900">
                <a:solidFill>
                  <a:srgbClr val="8CB9AA"/>
                </a:solidFill>
                <a:latin typeface="Consolas"/>
              </a:rPr>
              <a:t>34.2 / 100</a:t>
            </a:r>
          </a:p>
          <a:p>
            <a:pPr>
              <a:spcAft>
                <a:spcPts val="250"/>
              </a:spcAft>
            </a:pPr>
            <a:r>
              <a:rPr sz="950" b="1">
                <a:solidFill>
                  <a:srgbClr val="D9A45B"/>
                </a:solidFill>
                <a:latin typeface="Consolas"/>
              </a:rPr>
              <a:t>Severity: </a:t>
            </a:r>
            <a:r>
              <a:rPr sz="900">
                <a:solidFill>
                  <a:srgbClr val="8CB9AA"/>
                </a:solidFill>
                <a:latin typeface="Consolas"/>
              </a:rPr>
              <a:t>CRITICAL flag</a:t>
            </a:r>
          </a:p>
          <a:p>
            <a:pPr>
              <a:spcAft>
                <a:spcPts val="250"/>
              </a:spcAft>
            </a:pPr>
            <a:r>
              <a:rPr sz="950" b="1">
                <a:solidFill>
                  <a:srgbClr val="D9A45B"/>
                </a:solidFill>
                <a:latin typeface="Consolas"/>
              </a:rPr>
              <a:t>Units: </a:t>
            </a:r>
            <a:r>
              <a:rPr sz="900">
                <a:solidFill>
                  <a:srgbClr val="8CB9AA"/>
                </a:solidFill>
                <a:latin typeface="Consolas"/>
              </a:rPr>
              <a:t>Metric SI standard</a:t>
            </a:r>
          </a:p>
        </p:txBody>
      </p:sp>
      <p:cxnSp>
        <p:nvCxnSpPr>
          <p:cNvPr id="48" name="Connector 47"/>
          <p:cNvCxnSpPr/>
          <p:nvPr/>
        </p:nvCxnSpPr>
        <p:spPr>
          <a:xfrm>
            <a:off x="4901184" y="3154680"/>
            <a:ext cx="1828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4824984"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4863084"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007864"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45964"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84064" y="1600200"/>
            <a:ext cx="1993392" cy="32461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4982464"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077456"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982464"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077456"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982464"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077456"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518566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117336" y="1651000"/>
            <a:ext cx="822960" cy="228600"/>
          </a:xfrm>
          <a:prstGeom prst="rect">
            <a:avLst/>
          </a:prstGeom>
          <a:noFill/>
        </p:spPr>
        <p:txBody>
          <a:bodyPr wrap="none" lIns="0" tIns="0" rIns="0" bIns="0">
            <a:spAutoFit/>
          </a:bodyPr>
          <a:lstStyle/>
          <a:p>
            <a:pPr algn="r">
              <a:defRPr sz="850" b="1">
                <a:solidFill>
                  <a:srgbClr val="D9A45B"/>
                </a:solidFill>
                <a:latin typeface="Consolas"/>
              </a:defRPr>
            </a:pPr>
            <a:r>
              <a:t>U3 [PH3]</a:t>
            </a:r>
          </a:p>
        </p:txBody>
      </p:sp>
      <p:sp>
        <p:nvSpPr>
          <p:cNvPr id="62" name="TextBox 61"/>
          <p:cNvSpPr txBox="1"/>
          <p:nvPr/>
        </p:nvSpPr>
        <p:spPr>
          <a:xfrm>
            <a:off x="5221224" y="1803400"/>
            <a:ext cx="1719072" cy="274320"/>
          </a:xfrm>
          <a:prstGeom prst="rect">
            <a:avLst/>
          </a:prstGeom>
          <a:noFill/>
        </p:spPr>
        <p:txBody>
          <a:bodyPr wrap="square" lIns="0" tIns="0" rIns="0" bIns="0">
            <a:spAutoFit/>
          </a:bodyPr>
          <a:lstStyle/>
          <a:p>
            <a:pPr>
              <a:defRPr sz="1050" b="1">
                <a:solidFill>
                  <a:srgbClr val="E8C27A"/>
                </a:solidFill>
                <a:latin typeface="Segoe UI"/>
              </a:defRPr>
            </a:pPr>
            <a:r>
              <a:t>3. PRUNE &amp; LLM</a:t>
            </a:r>
          </a:p>
        </p:txBody>
      </p:sp>
      <p:sp>
        <p:nvSpPr>
          <p:cNvPr id="63" name="TextBox 62"/>
          <p:cNvSpPr txBox="1"/>
          <p:nvPr/>
        </p:nvSpPr>
        <p:spPr>
          <a:xfrm>
            <a:off x="5221224" y="2130552"/>
            <a:ext cx="1719072" cy="2624328"/>
          </a:xfrm>
          <a:prstGeom prst="rect">
            <a:avLst/>
          </a:prstGeom>
          <a:noFill/>
        </p:spPr>
        <p:txBody>
          <a:bodyPr wrap="square" lIns="0" tIns="0" rIns="0" bIns="0">
            <a:spAutoFit/>
          </a:bodyPr>
          <a:lstStyle/>
          <a:p>
            <a:pPr>
              <a:spcAft>
                <a:spcPts val="250"/>
              </a:spcAft>
            </a:pPr>
            <a:r>
              <a:rPr sz="950" b="1">
                <a:solidFill>
                  <a:srgbClr val="D9A45B"/>
                </a:solidFill>
                <a:latin typeface="Consolas"/>
              </a:rPr>
              <a:t>Clustering: </a:t>
            </a:r>
            <a:r>
              <a:rPr sz="900">
                <a:solidFill>
                  <a:srgbClr val="8CB9AA"/>
                </a:solidFill>
                <a:latin typeface="Consolas"/>
              </a:rPr>
              <a:t>Medoid DS_0412</a:t>
            </a:r>
          </a:p>
          <a:p>
            <a:pPr>
              <a:spcAft>
                <a:spcPts val="250"/>
              </a:spcAft>
            </a:pPr>
            <a:r>
              <a:rPr sz="950" b="1">
                <a:solidFill>
                  <a:srgbClr val="D9A45B"/>
                </a:solidFill>
                <a:latin typeface="Consolas"/>
              </a:rPr>
              <a:t>Timing: </a:t>
            </a:r>
            <a:r>
              <a:rPr sz="900">
                <a:solidFill>
                  <a:srgbClr val="8CB9AA"/>
                </a:solidFill>
                <a:latin typeface="Consolas"/>
              </a:rPr>
              <a:t>t_event - 45 min</a:t>
            </a:r>
          </a:p>
          <a:p>
            <a:pPr>
              <a:spcAft>
                <a:spcPts val="250"/>
              </a:spcAft>
            </a:pPr>
            <a:r>
              <a:rPr sz="950" b="1">
                <a:solidFill>
                  <a:srgbClr val="D9A45B"/>
                </a:solidFill>
                <a:latin typeface="Consolas"/>
              </a:rPr>
              <a:t>Cascade: </a:t>
            </a:r>
            <a:r>
              <a:rPr sz="900">
                <a:solidFill>
                  <a:srgbClr val="8CB9AA"/>
                </a:solidFill>
                <a:latin typeface="Consolas"/>
              </a:rPr>
              <a:t>4 LLM engines</a:t>
            </a:r>
          </a:p>
          <a:p>
            <a:pPr>
              <a:spcAft>
                <a:spcPts val="250"/>
              </a:spcAft>
            </a:pPr>
            <a:r>
              <a:rPr sz="950" b="1">
                <a:solidFill>
                  <a:srgbClr val="D9A45B"/>
                </a:solidFill>
                <a:latin typeface="Consolas"/>
              </a:rPr>
              <a:t>Consensus: </a:t>
            </a:r>
            <a:r>
              <a:rPr sz="900">
                <a:solidFill>
                  <a:srgbClr val="8CB9AA"/>
                </a:solidFill>
                <a:latin typeface="Consolas"/>
              </a:rPr>
              <a:t>80% consistency</a:t>
            </a:r>
          </a:p>
          <a:p>
            <a:pPr>
              <a:spcAft>
                <a:spcPts val="250"/>
              </a:spcAft>
            </a:pPr>
            <a:r>
              <a:rPr sz="950" b="1">
                <a:solidFill>
                  <a:srgbClr val="D9A45B"/>
                </a:solidFill>
                <a:latin typeface="Consolas"/>
              </a:rPr>
              <a:t>Top Preference: </a:t>
            </a:r>
            <a:r>
              <a:rPr sz="900">
                <a:solidFill>
                  <a:srgbClr val="8CB9AA"/>
                </a:solidFill>
                <a:latin typeface="Consolas"/>
              </a:rPr>
              <a:t>Bearing overhaul</a:t>
            </a:r>
          </a:p>
        </p:txBody>
      </p:sp>
      <p:cxnSp>
        <p:nvCxnSpPr>
          <p:cNvPr id="64" name="Connector 63"/>
          <p:cNvCxnSpPr/>
          <p:nvPr/>
        </p:nvCxnSpPr>
        <p:spPr>
          <a:xfrm>
            <a:off x="7077456" y="3154680"/>
            <a:ext cx="1828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7001256"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7039356"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184136"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222236"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7260336" y="1600200"/>
            <a:ext cx="1993392" cy="32461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7158736"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9253728"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158736"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9253728"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158736"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9253728"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7361936"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293608" y="1651000"/>
            <a:ext cx="822960" cy="228600"/>
          </a:xfrm>
          <a:prstGeom prst="rect">
            <a:avLst/>
          </a:prstGeom>
          <a:noFill/>
        </p:spPr>
        <p:txBody>
          <a:bodyPr wrap="none" lIns="0" tIns="0" rIns="0" bIns="0">
            <a:spAutoFit/>
          </a:bodyPr>
          <a:lstStyle/>
          <a:p>
            <a:pPr algn="r">
              <a:defRPr sz="850" b="1">
                <a:solidFill>
                  <a:srgbClr val="D9A45B"/>
                </a:solidFill>
                <a:latin typeface="Consolas"/>
              </a:defRPr>
            </a:pPr>
            <a:r>
              <a:t>U4 [PH4]</a:t>
            </a:r>
          </a:p>
        </p:txBody>
      </p:sp>
      <p:sp>
        <p:nvSpPr>
          <p:cNvPr id="78" name="TextBox 77"/>
          <p:cNvSpPr txBox="1"/>
          <p:nvPr/>
        </p:nvSpPr>
        <p:spPr>
          <a:xfrm>
            <a:off x="7397496" y="1803400"/>
            <a:ext cx="1719072" cy="274320"/>
          </a:xfrm>
          <a:prstGeom prst="rect">
            <a:avLst/>
          </a:prstGeom>
          <a:noFill/>
        </p:spPr>
        <p:txBody>
          <a:bodyPr wrap="square" lIns="0" tIns="0" rIns="0" bIns="0">
            <a:spAutoFit/>
          </a:bodyPr>
          <a:lstStyle/>
          <a:p>
            <a:pPr>
              <a:defRPr sz="1050" b="1">
                <a:solidFill>
                  <a:srgbClr val="E8C27A"/>
                </a:solidFill>
                <a:latin typeface="Segoe UI"/>
              </a:defRPr>
            </a:pPr>
            <a:r>
              <a:t>4. HYBRID RANK</a:t>
            </a:r>
          </a:p>
        </p:txBody>
      </p:sp>
      <p:sp>
        <p:nvSpPr>
          <p:cNvPr id="79" name="TextBox 78"/>
          <p:cNvSpPr txBox="1"/>
          <p:nvPr/>
        </p:nvSpPr>
        <p:spPr>
          <a:xfrm>
            <a:off x="7397496" y="2130552"/>
            <a:ext cx="1719072" cy="2624328"/>
          </a:xfrm>
          <a:prstGeom prst="rect">
            <a:avLst/>
          </a:prstGeom>
          <a:noFill/>
        </p:spPr>
        <p:txBody>
          <a:bodyPr wrap="square" lIns="0" tIns="0" rIns="0" bIns="0">
            <a:spAutoFit/>
          </a:bodyPr>
          <a:lstStyle/>
          <a:p>
            <a:pPr>
              <a:spcAft>
                <a:spcPts val="250"/>
              </a:spcAft>
            </a:pPr>
            <a:r>
              <a:rPr sz="950" b="1">
                <a:solidFill>
                  <a:srgbClr val="D9A45B"/>
                </a:solidFill>
                <a:latin typeface="Consolas"/>
              </a:rPr>
              <a:t>Engine: </a:t>
            </a:r>
            <a:r>
              <a:rPr sz="900">
                <a:solidFill>
                  <a:srgbClr val="8CB9AA"/>
                </a:solidFill>
                <a:latin typeface="Consolas"/>
              </a:rPr>
              <a:t>LightGBM + CBR</a:t>
            </a:r>
          </a:p>
          <a:p>
            <a:pPr>
              <a:spcAft>
                <a:spcPts val="250"/>
              </a:spcAft>
            </a:pPr>
            <a:r>
              <a:rPr sz="950" b="1">
                <a:solidFill>
                  <a:srgbClr val="D9A45B"/>
                </a:solidFill>
                <a:latin typeface="Consolas"/>
              </a:rPr>
              <a:t>Top-1 Choice: </a:t>
            </a:r>
            <a:r>
              <a:rPr sz="900">
                <a:solidFill>
                  <a:srgbClr val="8CB9AA"/>
                </a:solidFill>
                <a:latin typeface="Consolas"/>
              </a:rPr>
              <a:t>ACT_REPL_BEARING</a:t>
            </a:r>
          </a:p>
          <a:p>
            <a:pPr>
              <a:spcAft>
                <a:spcPts val="250"/>
              </a:spcAft>
            </a:pPr>
            <a:r>
              <a:rPr sz="950" b="1">
                <a:solidFill>
                  <a:srgbClr val="D9A45B"/>
                </a:solidFill>
                <a:latin typeface="Consolas"/>
              </a:rPr>
              <a:t>Confidence: </a:t>
            </a:r>
            <a:r>
              <a:rPr sz="900">
                <a:solidFill>
                  <a:srgbClr val="8CB9AA"/>
                </a:solidFill>
                <a:latin typeface="Consolas"/>
              </a:rPr>
              <a:t>0.960 score</a:t>
            </a:r>
          </a:p>
          <a:p>
            <a:pPr>
              <a:spcAft>
                <a:spcPts val="250"/>
              </a:spcAft>
            </a:pPr>
            <a:r>
              <a:rPr sz="950" b="1">
                <a:solidFill>
                  <a:srgbClr val="D9A45B"/>
                </a:solidFill>
                <a:latin typeface="Consolas"/>
              </a:rPr>
              <a:t>Top-2 Choice: </a:t>
            </a:r>
            <a:r>
              <a:rPr sz="900">
                <a:solidFill>
                  <a:srgbClr val="8CB9AA"/>
                </a:solidFill>
                <a:latin typeface="Consolas"/>
              </a:rPr>
              <a:t>CONTROLLED_SHUTDOWN</a:t>
            </a:r>
          </a:p>
          <a:p>
            <a:pPr>
              <a:spcAft>
                <a:spcPts val="250"/>
              </a:spcAft>
            </a:pPr>
            <a:r>
              <a:rPr sz="950" b="1">
                <a:solidFill>
                  <a:srgbClr val="D9A45B"/>
                </a:solidFill>
                <a:latin typeface="Consolas"/>
              </a:rPr>
              <a:t>Top-3 Choice: </a:t>
            </a:r>
            <a:r>
              <a:rPr sz="900">
                <a:solidFill>
                  <a:srgbClr val="8CB9AA"/>
                </a:solidFill>
                <a:latin typeface="Consolas"/>
              </a:rPr>
              <a:t>ACT_REPL_SEAL_VALVE</a:t>
            </a:r>
          </a:p>
        </p:txBody>
      </p:sp>
      <p:cxnSp>
        <p:nvCxnSpPr>
          <p:cNvPr id="80" name="Connector 79"/>
          <p:cNvCxnSpPr/>
          <p:nvPr/>
        </p:nvCxnSpPr>
        <p:spPr>
          <a:xfrm>
            <a:off x="9253728" y="3154680"/>
            <a:ext cx="1828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9177528"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9215628"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360408" y="30784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398508" y="31165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9436608" y="1600200"/>
            <a:ext cx="1993392" cy="32461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9335008"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11430000" y="2392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9335008"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11430000" y="320421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335008"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11430000" y="40157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9538208"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0469880" y="1651000"/>
            <a:ext cx="822960" cy="228600"/>
          </a:xfrm>
          <a:prstGeom prst="rect">
            <a:avLst/>
          </a:prstGeom>
          <a:noFill/>
        </p:spPr>
        <p:txBody>
          <a:bodyPr wrap="none" lIns="0" tIns="0" rIns="0" bIns="0">
            <a:spAutoFit/>
          </a:bodyPr>
          <a:lstStyle/>
          <a:p>
            <a:pPr algn="r">
              <a:defRPr sz="850" b="1">
                <a:solidFill>
                  <a:srgbClr val="D9A45B"/>
                </a:solidFill>
                <a:latin typeface="Consolas"/>
              </a:defRPr>
            </a:pPr>
            <a:r>
              <a:t>U5 [PH5]</a:t>
            </a:r>
          </a:p>
        </p:txBody>
      </p:sp>
      <p:sp>
        <p:nvSpPr>
          <p:cNvPr id="94" name="TextBox 93"/>
          <p:cNvSpPr txBox="1"/>
          <p:nvPr/>
        </p:nvSpPr>
        <p:spPr>
          <a:xfrm>
            <a:off x="9573768" y="1803400"/>
            <a:ext cx="1719072" cy="274320"/>
          </a:xfrm>
          <a:prstGeom prst="rect">
            <a:avLst/>
          </a:prstGeom>
          <a:noFill/>
        </p:spPr>
        <p:txBody>
          <a:bodyPr wrap="square" lIns="0" tIns="0" rIns="0" bIns="0">
            <a:spAutoFit/>
          </a:bodyPr>
          <a:lstStyle/>
          <a:p>
            <a:pPr>
              <a:defRPr sz="1050" b="1">
                <a:solidFill>
                  <a:srgbClr val="E8C27A"/>
                </a:solidFill>
                <a:latin typeface="Segoe UI"/>
              </a:defRPr>
            </a:pPr>
            <a:r>
              <a:t>5. PLANT MATCH</a:t>
            </a:r>
          </a:p>
        </p:txBody>
      </p:sp>
      <p:sp>
        <p:nvSpPr>
          <p:cNvPr id="95" name="TextBox 94"/>
          <p:cNvSpPr txBox="1"/>
          <p:nvPr/>
        </p:nvSpPr>
        <p:spPr>
          <a:xfrm>
            <a:off x="9573768" y="2130552"/>
            <a:ext cx="1719072" cy="2624328"/>
          </a:xfrm>
          <a:prstGeom prst="rect">
            <a:avLst/>
          </a:prstGeom>
          <a:noFill/>
        </p:spPr>
        <p:txBody>
          <a:bodyPr wrap="square" lIns="0" tIns="0" rIns="0" bIns="0">
            <a:spAutoFit/>
          </a:bodyPr>
          <a:lstStyle/>
          <a:p>
            <a:pPr>
              <a:spcAft>
                <a:spcPts val="250"/>
              </a:spcAft>
            </a:pPr>
            <a:r>
              <a:rPr sz="950" b="1">
                <a:solidFill>
                  <a:srgbClr val="D9A45B"/>
                </a:solidFill>
                <a:latin typeface="Consolas"/>
              </a:rPr>
              <a:t>Dispatch: </a:t>
            </a:r>
            <a:r>
              <a:rPr sz="900">
                <a:solidFill>
                  <a:srgbClr val="8CB9AA"/>
                </a:solidFill>
                <a:latin typeface="Consolas"/>
              </a:rPr>
              <a:t>CMMS work order</a:t>
            </a:r>
          </a:p>
          <a:p>
            <a:pPr>
              <a:spcAft>
                <a:spcPts val="250"/>
              </a:spcAft>
            </a:pPr>
            <a:r>
              <a:rPr sz="950" b="1">
                <a:solidFill>
                  <a:srgbClr val="D9A45B"/>
                </a:solidFill>
                <a:latin typeface="Consolas"/>
              </a:rPr>
              <a:t>Mechanic Log: </a:t>
            </a:r>
            <a:r>
              <a:rPr sz="900">
                <a:solidFill>
                  <a:srgbClr val="8CB9AA"/>
                </a:solidFill>
                <a:latin typeface="Consolas"/>
              </a:rPr>
              <a:t>Replaced bearing</a:t>
            </a:r>
          </a:p>
          <a:p>
            <a:pPr>
              <a:spcAft>
                <a:spcPts val="250"/>
              </a:spcAft>
            </a:pPr>
            <a:r>
              <a:rPr sz="950" b="1">
                <a:solidFill>
                  <a:srgbClr val="D9A45B"/>
                </a:solidFill>
                <a:latin typeface="Consolas"/>
              </a:rPr>
              <a:t>Agreement: </a:t>
            </a:r>
            <a:r>
              <a:rPr sz="900">
                <a:solidFill>
                  <a:srgbClr val="8CB9AA"/>
                </a:solidFill>
                <a:latin typeface="Consolas"/>
              </a:rPr>
              <a:t>100% Top-1 match</a:t>
            </a:r>
          </a:p>
          <a:p>
            <a:pPr>
              <a:spcAft>
                <a:spcPts val="250"/>
              </a:spcAft>
            </a:pPr>
            <a:r>
              <a:rPr sz="950" b="1">
                <a:solidFill>
                  <a:srgbClr val="D9A45B"/>
                </a:solidFill>
                <a:latin typeface="Consolas"/>
              </a:rPr>
              <a:t>Parts Cost: </a:t>
            </a:r>
            <a:r>
              <a:rPr sz="900">
                <a:solidFill>
                  <a:srgbClr val="8CB9AA"/>
                </a:solidFill>
                <a:latin typeface="Consolas"/>
              </a:rPr>
              <a:t>$890.99</a:t>
            </a:r>
          </a:p>
          <a:p>
            <a:pPr>
              <a:spcAft>
                <a:spcPts val="250"/>
              </a:spcAft>
            </a:pPr>
            <a:r>
              <a:rPr sz="950" b="1">
                <a:solidFill>
                  <a:srgbClr val="D9A45B"/>
                </a:solidFill>
                <a:latin typeface="Consolas"/>
              </a:rPr>
              <a:t>Outcome: </a:t>
            </a:r>
            <a:r>
              <a:rPr sz="900">
                <a:solidFill>
                  <a:srgbClr val="8CB9AA"/>
                </a:solidFill>
                <a:latin typeface="Consolas"/>
              </a:rPr>
              <a:t>Seizure avoided</a:t>
            </a:r>
          </a:p>
        </p:txBody>
      </p:sp>
      <p:sp>
        <p:nvSpPr>
          <p:cNvPr id="96" name="Rectangle 95"/>
          <p:cNvSpPr/>
          <p:nvPr/>
        </p:nvSpPr>
        <p:spPr>
          <a:xfrm>
            <a:off x="731520" y="4983480"/>
            <a:ext cx="3328416" cy="114300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629920"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4059936"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629920"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4059936"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629920"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059936"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833120" y="50850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2734056" y="503428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REG_01</a:t>
            </a:r>
          </a:p>
        </p:txBody>
      </p:sp>
      <p:sp>
        <p:nvSpPr>
          <p:cNvPr id="105" name="TextBox 104"/>
          <p:cNvSpPr txBox="1"/>
          <p:nvPr/>
        </p:nvSpPr>
        <p:spPr>
          <a:xfrm>
            <a:off x="896112" y="5093208"/>
            <a:ext cx="2999232" cy="923544"/>
          </a:xfrm>
          <a:prstGeom prst="rect">
            <a:avLst/>
          </a:prstGeom>
          <a:noFill/>
        </p:spPr>
        <p:txBody>
          <a:bodyPr wrap="square" lIns="0" tIns="0" rIns="0" bIns="0">
            <a:spAutoFit/>
          </a:bodyPr>
          <a:lstStyle/>
          <a:p>
            <a:pPr>
              <a:defRPr sz="1000" b="1">
                <a:solidFill>
                  <a:srgbClr val="8CB9AA"/>
                </a:solidFill>
                <a:latin typeface="Consolas"/>
              </a:defRPr>
            </a:pPr>
            <a:r>
              <a:t>TRACKED ASSET</a:t>
            </a:r>
          </a:p>
          <a:p>
            <a:pPr>
              <a:defRPr sz="2200" b="1">
                <a:solidFill>
                  <a:srgbClr val="E8C27A"/>
                </a:solidFill>
                <a:latin typeface="Segoe UI"/>
              </a:defRPr>
            </a:pPr>
            <a:r>
              <a:t>PUMP_01 // RUN 14</a:t>
            </a:r>
          </a:p>
          <a:p>
            <a:pPr>
              <a:defRPr sz="950">
                <a:solidFill>
                  <a:srgbClr val="D9A45B"/>
                </a:solidFill>
                <a:latin typeface="Consolas"/>
              </a:defRPr>
            </a:pPr>
            <a:r>
              <a:t>Heavy industrial slurry pump</a:t>
            </a:r>
          </a:p>
        </p:txBody>
      </p:sp>
      <p:sp>
        <p:nvSpPr>
          <p:cNvPr id="106" name="Rectangle 105"/>
          <p:cNvSpPr/>
          <p:nvPr/>
        </p:nvSpPr>
        <p:spPr>
          <a:xfrm>
            <a:off x="4425696" y="4983480"/>
            <a:ext cx="3328416" cy="114300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4324096"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ectangle 107"/>
          <p:cNvSpPr/>
          <p:nvPr/>
        </p:nvSpPr>
        <p:spPr>
          <a:xfrm>
            <a:off x="7754112"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324096"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ectangle 109"/>
          <p:cNvSpPr/>
          <p:nvPr/>
        </p:nvSpPr>
        <p:spPr>
          <a:xfrm>
            <a:off x="7754112"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ectangle 110"/>
          <p:cNvSpPr/>
          <p:nvPr/>
        </p:nvSpPr>
        <p:spPr>
          <a:xfrm>
            <a:off x="4324096"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ectangle 111"/>
          <p:cNvSpPr/>
          <p:nvPr/>
        </p:nvSpPr>
        <p:spPr>
          <a:xfrm>
            <a:off x="7754112"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4527296" y="50850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6428232" y="503428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REG_02</a:t>
            </a:r>
          </a:p>
        </p:txBody>
      </p:sp>
      <p:sp>
        <p:nvSpPr>
          <p:cNvPr id="115" name="TextBox 114"/>
          <p:cNvSpPr txBox="1"/>
          <p:nvPr/>
        </p:nvSpPr>
        <p:spPr>
          <a:xfrm>
            <a:off x="4590288" y="5093208"/>
            <a:ext cx="2999232" cy="923544"/>
          </a:xfrm>
          <a:prstGeom prst="rect">
            <a:avLst/>
          </a:prstGeom>
          <a:noFill/>
        </p:spPr>
        <p:txBody>
          <a:bodyPr wrap="square" lIns="0" tIns="0" rIns="0" bIns="0">
            <a:spAutoFit/>
          </a:bodyPr>
          <a:lstStyle/>
          <a:p>
            <a:pPr>
              <a:defRPr sz="1000" b="1">
                <a:solidFill>
                  <a:srgbClr val="8CB9AA"/>
                </a:solidFill>
                <a:latin typeface="Consolas"/>
              </a:defRPr>
            </a:pPr>
            <a:r>
              <a:t>FIELD ALIGNMENT</a:t>
            </a:r>
          </a:p>
          <a:p>
            <a:pPr>
              <a:defRPr sz="2200" b="1">
                <a:solidFill>
                  <a:srgbClr val="E8C27A"/>
                </a:solidFill>
                <a:latin typeface="Segoe UI"/>
              </a:defRPr>
            </a:pPr>
            <a:r>
              <a:t>100% TOP-1 MATCH</a:t>
            </a:r>
          </a:p>
          <a:p>
            <a:pPr>
              <a:defRPr sz="950">
                <a:solidFill>
                  <a:srgbClr val="D9A45B"/>
                </a:solidFill>
                <a:latin typeface="Consolas"/>
              </a:defRPr>
            </a:pPr>
            <a:r>
              <a:t>Matched human repair ticket</a:t>
            </a:r>
          </a:p>
        </p:txBody>
      </p:sp>
      <p:sp>
        <p:nvSpPr>
          <p:cNvPr id="116" name="Rectangle 115"/>
          <p:cNvSpPr/>
          <p:nvPr/>
        </p:nvSpPr>
        <p:spPr>
          <a:xfrm>
            <a:off x="8119872" y="4983480"/>
            <a:ext cx="3328416" cy="114300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8018272"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Rectangle 117"/>
          <p:cNvSpPr/>
          <p:nvPr/>
        </p:nvSpPr>
        <p:spPr>
          <a:xfrm>
            <a:off x="11448288" y="52501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Rectangle 118"/>
          <p:cNvSpPr/>
          <p:nvPr/>
        </p:nvSpPr>
        <p:spPr>
          <a:xfrm>
            <a:off x="8018272"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Rectangle 119"/>
          <p:cNvSpPr/>
          <p:nvPr/>
        </p:nvSpPr>
        <p:spPr>
          <a:xfrm>
            <a:off x="11448288"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p:cNvSpPr/>
          <p:nvPr/>
        </p:nvSpPr>
        <p:spPr>
          <a:xfrm>
            <a:off x="8018272"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Rectangle 121"/>
          <p:cNvSpPr/>
          <p:nvPr/>
        </p:nvSpPr>
        <p:spPr>
          <a:xfrm>
            <a:off x="11448288" y="582168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8221472" y="508508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10122408" y="503428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REG_03</a:t>
            </a:r>
          </a:p>
        </p:txBody>
      </p:sp>
      <p:sp>
        <p:nvSpPr>
          <p:cNvPr id="125" name="TextBox 124"/>
          <p:cNvSpPr txBox="1"/>
          <p:nvPr/>
        </p:nvSpPr>
        <p:spPr>
          <a:xfrm>
            <a:off x="8284464" y="5093208"/>
            <a:ext cx="2999232" cy="923544"/>
          </a:xfrm>
          <a:prstGeom prst="rect">
            <a:avLst/>
          </a:prstGeom>
          <a:noFill/>
        </p:spPr>
        <p:txBody>
          <a:bodyPr wrap="square" lIns="0" tIns="0" rIns="0" bIns="0">
            <a:spAutoFit/>
          </a:bodyPr>
          <a:lstStyle/>
          <a:p>
            <a:pPr>
              <a:defRPr sz="1000" b="1">
                <a:solidFill>
                  <a:srgbClr val="8CB9AA"/>
                </a:solidFill>
                <a:latin typeface="Consolas"/>
              </a:defRPr>
            </a:pPr>
            <a:r>
              <a:t>PREVENTED LOSS</a:t>
            </a:r>
          </a:p>
          <a:p>
            <a:pPr>
              <a:defRPr sz="2200" b="1">
                <a:solidFill>
                  <a:srgbClr val="E8C27A"/>
                </a:solidFill>
                <a:latin typeface="Segoe UI"/>
              </a:defRPr>
            </a:pPr>
            <a:r>
              <a:t>$38,500 SAVED</a:t>
            </a:r>
          </a:p>
          <a:p>
            <a:pPr>
              <a:defRPr sz="950">
                <a:solidFill>
                  <a:srgbClr val="D9A45B"/>
                </a:solidFill>
                <a:latin typeface="Consolas"/>
              </a:defRPr>
            </a:pPr>
            <a:r>
              <a:t>Avoided emergency teardown</a:t>
            </a:r>
          </a:p>
        </p:txBody>
      </p:sp>
      <p:cxnSp>
        <p:nvCxnSpPr>
          <p:cNvPr id="126" name="Connector 125"/>
          <p:cNvCxnSpPr/>
          <p:nvPr/>
        </p:nvCxnSpPr>
        <p:spPr>
          <a:xfrm>
            <a:off x="2327148" y="4846320"/>
            <a:ext cx="137160" cy="13716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27" name="Oval 126"/>
          <p:cNvSpPr/>
          <p:nvPr/>
        </p:nvSpPr>
        <p:spPr>
          <a:xfrm>
            <a:off x="2319528" y="47701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2357628" y="48082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2319528" y="4907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2357628" y="4945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1" name="Connector 130"/>
          <p:cNvCxnSpPr/>
          <p:nvPr/>
        </p:nvCxnSpPr>
        <p:spPr>
          <a:xfrm>
            <a:off x="6021324" y="4846320"/>
            <a:ext cx="137160" cy="13716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32" name="Oval 131"/>
          <p:cNvSpPr/>
          <p:nvPr/>
        </p:nvSpPr>
        <p:spPr>
          <a:xfrm>
            <a:off x="6013704" y="47701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6051804" y="48082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6013704" y="4907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6051804" y="4945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6" name="Connector 135"/>
          <p:cNvCxnSpPr/>
          <p:nvPr/>
        </p:nvCxnSpPr>
        <p:spPr>
          <a:xfrm>
            <a:off x="9715500" y="4846320"/>
            <a:ext cx="137160" cy="13716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9707880" y="47701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9745980" y="48082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9707880" y="4907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9745980" y="4945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1 // SENSOR INGESTION // REF: BUS_SENSORS</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Ingesting diverse industrial telemetry without target leakage</a:t>
            </a:r>
          </a:p>
          <a:p>
            <a:pPr>
              <a:defRPr sz="1000">
                <a:solidFill>
                  <a:srgbClr val="8CB9AA"/>
                </a:solidFill>
                <a:latin typeface="Consolas"/>
              </a:defRPr>
            </a:pPr>
            <a:r>
              <a:t>COLLECTING OVER 7.8 MILLION SENSOR RECORDS ACROSS 11 BENCHMARK DATASETS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685800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5895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5895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75895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5895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6364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[REGISTRY]</a:t>
            </a:r>
          </a:p>
        </p:txBody>
      </p:sp>
      <p:sp>
        <p:nvSpPr>
          <p:cNvPr id="32" name="TextBox 31"/>
          <p:cNvSpPr txBox="1"/>
          <p:nvPr/>
        </p:nvSpPr>
        <p:spPr>
          <a:xfrm>
            <a:off x="960120" y="1709928"/>
            <a:ext cx="5394960" cy="274320"/>
          </a:xfrm>
          <a:prstGeom prst="rect">
            <a:avLst/>
          </a:prstGeom>
          <a:noFill/>
        </p:spPr>
        <p:txBody>
          <a:bodyPr wrap="square" lIns="0" tIns="0" rIns="0" bIns="0">
            <a:spAutoFit/>
          </a:bodyPr>
          <a:lstStyle/>
          <a:p>
            <a:pPr>
              <a:defRPr sz="1300" b="1">
                <a:solidFill>
                  <a:srgbClr val="E8C27A"/>
                </a:solidFill>
                <a:latin typeface="Segoe UI"/>
              </a:defRPr>
            </a:pPr>
            <a:r>
              <a:t>DIVERSE INDUSTRIAL TELEMETRY SOURCES</a:t>
            </a:r>
          </a:p>
        </p:txBody>
      </p:sp>
      <p:sp>
        <p:nvSpPr>
          <p:cNvPr id="33" name="TextBox 32"/>
          <p:cNvSpPr txBox="1"/>
          <p:nvPr/>
        </p:nvSpPr>
        <p:spPr>
          <a:xfrm>
            <a:off x="960120" y="2075688"/>
            <a:ext cx="6400800"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Turbofan Engines (NASA C-MAPSS): </a:t>
            </a:r>
            <a:r>
              <a:rPr sz="1150">
                <a:solidFill>
                  <a:srgbClr val="8CB9AA"/>
                </a:solidFill>
                <a:latin typeface="Consolas"/>
              </a:rPr>
              <a:t>Run-to-failure degradation streams tracking gas-path temperatures and pressures.</a:t>
            </a:r>
          </a:p>
          <a:p>
            <a:pPr>
              <a:spcAft>
                <a:spcPts val="550"/>
              </a:spcAft>
            </a:pPr>
            <a:r>
              <a:rPr sz="1200" b="1">
                <a:solidFill>
                  <a:srgbClr val="D9A45B"/>
                </a:solidFill>
                <a:latin typeface="Consolas"/>
              </a:rPr>
              <a:t>High-Speed Bearings (NASA IMS &amp; CWRU): </a:t>
            </a:r>
            <a:r>
              <a:rPr sz="1150">
                <a:solidFill>
                  <a:srgbClr val="8CB9AA"/>
                </a:solidFill>
                <a:latin typeface="Consolas"/>
              </a:rPr>
              <a:t>20 kilohertz vibration recordings tracking inner race, ball, and outer race failures under varying loads.</a:t>
            </a:r>
          </a:p>
          <a:p>
            <a:pPr>
              <a:spcAft>
                <a:spcPts val="550"/>
              </a:spcAft>
            </a:pPr>
            <a:r>
              <a:rPr sz="1200" b="1">
                <a:solidFill>
                  <a:srgbClr val="D9A45B"/>
                </a:solidFill>
                <a:latin typeface="Consolas"/>
              </a:rPr>
              <a:t>Industrial Air Compressors (MetroPT): </a:t>
            </a:r>
            <a:r>
              <a:rPr sz="1150">
                <a:solidFill>
                  <a:srgbClr val="8CB9AA"/>
                </a:solidFill>
                <a:latin typeface="Consolas"/>
              </a:rPr>
              <a:t>Pneumatic pressures, motor temperatures, and solenoid currents from rail compressor units.</a:t>
            </a:r>
          </a:p>
          <a:p>
            <a:pPr>
              <a:spcAft>
                <a:spcPts val="550"/>
              </a:spcAft>
            </a:pPr>
            <a:r>
              <a:rPr sz="1200" b="1">
                <a:solidFill>
                  <a:srgbClr val="D9A45B"/>
                </a:solidFill>
                <a:latin typeface="Consolas"/>
              </a:rPr>
              <a:t>Milling and Cutting Machines: </a:t>
            </a:r>
            <a:r>
              <a:rPr sz="1150">
                <a:solidFill>
                  <a:srgbClr val="8CB9AA"/>
                </a:solidFill>
                <a:latin typeface="Consolas"/>
              </a:rPr>
              <a:t>Spindle vibration, feed drive current, and acoustic emissions across cutting cycles.</a:t>
            </a:r>
          </a:p>
          <a:p>
            <a:pPr>
              <a:spcAft>
                <a:spcPts val="550"/>
              </a:spcAft>
            </a:pPr>
            <a:r>
              <a:rPr sz="1200" b="1">
                <a:solidFill>
                  <a:srgbClr val="D9A45B"/>
                </a:solidFill>
                <a:latin typeface="Consolas"/>
              </a:rPr>
              <a:t>Chemical Process Streams (Tennessee Eastman): </a:t>
            </a:r>
            <a:r>
              <a:rPr sz="1150">
                <a:solidFill>
                  <a:srgbClr val="8CB9AA"/>
                </a:solidFill>
                <a:latin typeface="Consolas"/>
              </a:rPr>
              <a:t>Multi-component flow, temperature, and reactor pressures across 21 fault scenarios.</a:t>
            </a:r>
          </a:p>
        </p:txBody>
      </p:sp>
      <p:sp>
        <p:nvSpPr>
          <p:cNvPr id="34" name="Rectangle 33"/>
          <p:cNvSpPr/>
          <p:nvPr/>
        </p:nvSpPr>
        <p:spPr>
          <a:xfrm>
            <a:off x="7863840" y="1600200"/>
            <a:ext cx="3596335" cy="1051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762240" y="1844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60175" y="1844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762240" y="2106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60175" y="2106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762240" y="2369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60175" y="2369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96544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REG_01</a:t>
            </a:r>
          </a:p>
        </p:txBody>
      </p:sp>
      <p:sp>
        <p:nvSpPr>
          <p:cNvPr id="43" name="TextBox 42"/>
          <p:cNvSpPr txBox="1"/>
          <p:nvPr/>
        </p:nvSpPr>
        <p:spPr>
          <a:xfrm>
            <a:off x="8028432" y="1709928"/>
            <a:ext cx="3267151" cy="832104"/>
          </a:xfrm>
          <a:prstGeom prst="rect">
            <a:avLst/>
          </a:prstGeom>
          <a:noFill/>
        </p:spPr>
        <p:txBody>
          <a:bodyPr wrap="square" lIns="0" tIns="0" rIns="0" bIns="0">
            <a:spAutoFit/>
          </a:bodyPr>
          <a:lstStyle/>
          <a:p>
            <a:pPr>
              <a:defRPr sz="1000" b="1">
                <a:solidFill>
                  <a:srgbClr val="8CB9AA"/>
                </a:solidFill>
                <a:latin typeface="Consolas"/>
              </a:defRPr>
            </a:pPr>
            <a:r>
              <a:t>INGESTED RECORDS</a:t>
            </a:r>
          </a:p>
          <a:p>
            <a:pPr>
              <a:defRPr sz="2200" b="1">
                <a:solidFill>
                  <a:srgbClr val="E8C27A"/>
                </a:solidFill>
                <a:latin typeface="Segoe UI"/>
              </a:defRPr>
            </a:pPr>
            <a:r>
              <a:t>7.8 MILLION</a:t>
            </a:r>
          </a:p>
          <a:p>
            <a:pPr>
              <a:defRPr sz="950">
                <a:solidFill>
                  <a:srgbClr val="D9A45B"/>
                </a:solidFill>
                <a:latin typeface="Consolas"/>
              </a:defRPr>
            </a:pPr>
            <a:r>
              <a:t>Raw continuous readings</a:t>
            </a:r>
          </a:p>
        </p:txBody>
      </p:sp>
      <p:sp>
        <p:nvSpPr>
          <p:cNvPr id="44" name="Rectangle 43"/>
          <p:cNvSpPr/>
          <p:nvPr/>
        </p:nvSpPr>
        <p:spPr>
          <a:xfrm>
            <a:off x="7863840" y="2743200"/>
            <a:ext cx="3596335" cy="1051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762240" y="2987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1460175" y="2987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7762240" y="3249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1460175" y="3249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762240" y="3512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1460175" y="3512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965440" y="2844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134295" y="279400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REG_02</a:t>
            </a:r>
          </a:p>
        </p:txBody>
      </p:sp>
      <p:sp>
        <p:nvSpPr>
          <p:cNvPr id="53" name="TextBox 52"/>
          <p:cNvSpPr txBox="1"/>
          <p:nvPr/>
        </p:nvSpPr>
        <p:spPr>
          <a:xfrm>
            <a:off x="8028432" y="2852928"/>
            <a:ext cx="3267151" cy="784830"/>
          </a:xfrm>
          <a:prstGeom prst="rect">
            <a:avLst/>
          </a:prstGeom>
          <a:noFill/>
        </p:spPr>
        <p:txBody>
          <a:bodyPr wrap="square" lIns="0" tIns="0" rIns="0" bIns="0">
            <a:spAutoFit/>
          </a:bodyPr>
          <a:lstStyle/>
          <a:p>
            <a:pPr>
              <a:defRPr sz="1000" b="1">
                <a:solidFill>
                  <a:srgbClr val="8CB9AA"/>
                </a:solidFill>
                <a:latin typeface="Consolas"/>
              </a:defRPr>
            </a:pPr>
            <a:r>
              <a:rPr dirty="0"/>
              <a:t>SENSOR TYPES</a:t>
            </a:r>
          </a:p>
          <a:p>
            <a:pPr>
              <a:defRPr sz="2200" b="1">
                <a:solidFill>
                  <a:srgbClr val="E8C27A"/>
                </a:solidFill>
                <a:latin typeface="Segoe UI"/>
              </a:defRPr>
            </a:pPr>
            <a:r>
              <a:rPr dirty="0"/>
              <a:t>6 MODALITIES</a:t>
            </a:r>
          </a:p>
          <a:p>
            <a:pPr>
              <a:defRPr sz="950">
                <a:solidFill>
                  <a:srgbClr val="D9A45B"/>
                </a:solidFill>
                <a:latin typeface="Consolas"/>
              </a:defRPr>
            </a:pPr>
            <a:r>
              <a:rPr dirty="0"/>
              <a:t>Vibration, temp, pressure, flow</a:t>
            </a:r>
            <a:r>
              <a:rPr lang="en-US" dirty="0"/>
              <a:t>, kinematic, electrical</a:t>
            </a:r>
            <a:endParaRPr dirty="0"/>
          </a:p>
        </p:txBody>
      </p:sp>
      <p:sp>
        <p:nvSpPr>
          <p:cNvPr id="54" name="Rectangle 53"/>
          <p:cNvSpPr/>
          <p:nvPr/>
        </p:nvSpPr>
        <p:spPr>
          <a:xfrm>
            <a:off x="7863840" y="3886200"/>
            <a:ext cx="3596335" cy="1051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762240" y="4130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11460175" y="4130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762240" y="4392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11460175" y="4392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762240" y="4655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1460175" y="4655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7965440" y="3987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0134295" y="393700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REG_03</a:t>
            </a:r>
          </a:p>
        </p:txBody>
      </p:sp>
      <p:sp>
        <p:nvSpPr>
          <p:cNvPr id="63" name="TextBox 62"/>
          <p:cNvSpPr txBox="1"/>
          <p:nvPr/>
        </p:nvSpPr>
        <p:spPr>
          <a:xfrm>
            <a:off x="8028432" y="3995928"/>
            <a:ext cx="3267151" cy="832104"/>
          </a:xfrm>
          <a:prstGeom prst="rect">
            <a:avLst/>
          </a:prstGeom>
          <a:noFill/>
        </p:spPr>
        <p:txBody>
          <a:bodyPr wrap="square" lIns="0" tIns="0" rIns="0" bIns="0">
            <a:spAutoFit/>
          </a:bodyPr>
          <a:lstStyle/>
          <a:p>
            <a:pPr>
              <a:defRPr sz="1000" b="1">
                <a:solidFill>
                  <a:srgbClr val="8CB9AA"/>
                </a:solidFill>
                <a:latin typeface="Consolas"/>
              </a:defRPr>
            </a:pPr>
            <a:r>
              <a:t>MACHINE FAMILIES</a:t>
            </a:r>
          </a:p>
          <a:p>
            <a:pPr>
              <a:defRPr sz="2200" b="1">
                <a:solidFill>
                  <a:srgbClr val="E8C27A"/>
                </a:solidFill>
                <a:latin typeface="Segoe UI"/>
              </a:defRPr>
            </a:pPr>
            <a:r>
              <a:t>8 ARCHETYPES</a:t>
            </a:r>
          </a:p>
          <a:p>
            <a:pPr>
              <a:defRPr sz="950">
                <a:solidFill>
                  <a:srgbClr val="D9A45B"/>
                </a:solidFill>
                <a:latin typeface="Consolas"/>
              </a:defRPr>
            </a:pPr>
            <a:r>
              <a:t>Pumps, compressors, engines</a:t>
            </a:r>
          </a:p>
        </p:txBody>
      </p:sp>
      <p:sp>
        <p:nvSpPr>
          <p:cNvPr id="64" name="Rectangle 63"/>
          <p:cNvSpPr/>
          <p:nvPr/>
        </p:nvSpPr>
        <p:spPr>
          <a:xfrm>
            <a:off x="7863840" y="5029200"/>
            <a:ext cx="3596335" cy="1051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7762240" y="5273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11460175" y="527304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762240"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1460175" y="553593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7762240" y="5798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11460175" y="579882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7965440" y="5130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134295" y="508000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REG_04</a:t>
            </a:r>
          </a:p>
        </p:txBody>
      </p:sp>
      <p:sp>
        <p:nvSpPr>
          <p:cNvPr id="73" name="TextBox 72"/>
          <p:cNvSpPr txBox="1"/>
          <p:nvPr/>
        </p:nvSpPr>
        <p:spPr>
          <a:xfrm>
            <a:off x="8028432" y="5138928"/>
            <a:ext cx="3267151" cy="832104"/>
          </a:xfrm>
          <a:prstGeom prst="rect">
            <a:avLst/>
          </a:prstGeom>
          <a:noFill/>
        </p:spPr>
        <p:txBody>
          <a:bodyPr wrap="square" lIns="0" tIns="0" rIns="0" bIns="0">
            <a:spAutoFit/>
          </a:bodyPr>
          <a:lstStyle/>
          <a:p>
            <a:pPr>
              <a:defRPr sz="1000" b="1">
                <a:solidFill>
                  <a:srgbClr val="8CB9AA"/>
                </a:solidFill>
                <a:latin typeface="Consolas"/>
              </a:defRPr>
            </a:pPr>
            <a:r>
              <a:t>TARGET LEAKAGE</a:t>
            </a:r>
          </a:p>
          <a:p>
            <a:pPr>
              <a:defRPr sz="2200" b="1">
                <a:solidFill>
                  <a:srgbClr val="E8C27A"/>
                </a:solidFill>
                <a:latin typeface="Segoe UI"/>
              </a:defRPr>
            </a:pPr>
            <a:r>
              <a:t>0.0 PERCENT</a:t>
            </a:r>
          </a:p>
          <a:p>
            <a:pPr>
              <a:defRPr sz="950">
                <a:solidFill>
                  <a:srgbClr val="D9A45B"/>
                </a:solidFill>
                <a:latin typeface="Consolas"/>
              </a:defRPr>
            </a:pPr>
            <a:r>
              <a:t>Labels kept separate from features</a:t>
            </a:r>
          </a:p>
        </p:txBody>
      </p:sp>
      <p:cxnSp>
        <p:nvCxnSpPr>
          <p:cNvPr id="74" name="Connector 73"/>
          <p:cNvCxnSpPr/>
          <p:nvPr/>
        </p:nvCxnSpPr>
        <p:spPr>
          <a:xfrm>
            <a:off x="7589520" y="320040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7513320" y="31242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7551420" y="31623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787640" y="31242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825740" y="31623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2 // ONTOLOGY ENGINE // REF: BUS_CMSR</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Creating a common language for industrial machine telemetry</a:t>
            </a:r>
          </a:p>
          <a:p>
            <a:pPr>
              <a:defRPr sz="1000">
                <a:solidFill>
                  <a:srgbClr val="8CB9AA"/>
                </a:solidFill>
                <a:latin typeface="Consolas"/>
              </a:defRPr>
            </a:pPr>
            <a:r>
              <a:t>HOW THE CANONICAL STATE FORMAT MAKES THE MODEL INDEPENDENT OF SCADA VENDOR NAMING</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[CANONICAL-SPEC]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COMMON STATE FORMAT</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24 QUANTITIES</a:t>
            </a:r>
          </a:p>
          <a:p>
            <a:pPr>
              <a:defRPr sz="950" b="1">
                <a:solidFill>
                  <a:srgbClr val="D9A45B"/>
                </a:solidFill>
                <a:latin typeface="Consolas"/>
              </a:defRPr>
            </a:pPr>
            <a:r>
              <a:t>730 CHANNELS</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dirty="0">
                <a:solidFill>
                  <a:srgbClr val="D9A45B"/>
                </a:solidFill>
                <a:latin typeface="Consolas"/>
              </a:rPr>
              <a:t>Unified Physical Units: </a:t>
            </a:r>
            <a:r>
              <a:rPr sz="1150" dirty="0">
                <a:solidFill>
                  <a:srgbClr val="8CB9AA"/>
                </a:solidFill>
                <a:latin typeface="Consolas"/>
              </a:rPr>
              <a:t>We mapped 730 individual sensor channels into 24 standard physical quantities in metric SI units.</a:t>
            </a:r>
          </a:p>
          <a:p>
            <a:pPr>
              <a:spcAft>
                <a:spcPts val="550"/>
              </a:spcAft>
            </a:pPr>
            <a:r>
              <a:rPr sz="1200" b="1" dirty="0">
                <a:solidFill>
                  <a:srgbClr val="D9A45B"/>
                </a:solidFill>
                <a:latin typeface="Consolas"/>
              </a:rPr>
              <a:t>Modular Modalities: </a:t>
            </a:r>
            <a:r>
              <a:rPr sz="1150" dirty="0">
                <a:solidFill>
                  <a:srgbClr val="8CB9AA"/>
                </a:solidFill>
                <a:latin typeface="Consolas"/>
              </a:rPr>
              <a:t>Grouped measurements into 10 clean groups including vibration, thermal, pressure, and acoustic energy.</a:t>
            </a:r>
          </a:p>
          <a:p>
            <a:pPr>
              <a:spcAft>
                <a:spcPts val="550"/>
              </a:spcAft>
            </a:pPr>
            <a:r>
              <a:rPr sz="1200" b="1" dirty="0">
                <a:solidFill>
                  <a:srgbClr val="D9A45B"/>
                </a:solidFill>
                <a:latin typeface="Consolas"/>
              </a:rPr>
              <a:t>Vendor Independence: </a:t>
            </a:r>
            <a:r>
              <a:rPr sz="1150" dirty="0">
                <a:solidFill>
                  <a:srgbClr val="8CB9AA"/>
                </a:solidFill>
                <a:latin typeface="Consolas"/>
              </a:rPr>
              <a:t>Downstream ranking models see only normalized physical states, not vendor-specific column strings.</a:t>
            </a:r>
          </a:p>
          <a:p>
            <a:pPr>
              <a:spcAft>
                <a:spcPts val="550"/>
              </a:spcAft>
            </a:pPr>
            <a:r>
              <a:rPr sz="1200" b="1" dirty="0">
                <a:solidFill>
                  <a:srgbClr val="D9A45B"/>
                </a:solidFill>
                <a:latin typeface="Consolas"/>
              </a:rPr>
              <a:t>Cross-Asset Transfer: </a:t>
            </a:r>
            <a:r>
              <a:rPr sz="1150" dirty="0">
                <a:solidFill>
                  <a:srgbClr val="8CB9AA"/>
                </a:solidFill>
                <a:latin typeface="Consolas"/>
              </a:rPr>
              <a:t>Enables models trained on compressors to run on slurry pumps without changing code.</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[MODALITY-GRID]</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DATASET X MODALITY COVERAGE MATRIX</a:t>
            </a:r>
          </a:p>
        </p:txBody>
      </p:sp>
      <p:sp>
        <p:nvSpPr>
          <p:cNvPr id="47" name="Rectangle 46"/>
          <p:cNvSpPr/>
          <p:nvPr/>
        </p:nvSpPr>
        <p:spPr>
          <a:xfrm>
            <a:off x="5570728" y="2058974"/>
            <a:ext cx="5713679" cy="3654450"/>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dataset_modality_matrix.png"/>
          <p:cNvPicPr>
            <a:picLocks noChangeAspect="1"/>
          </p:cNvPicPr>
          <p:nvPr/>
        </p:nvPicPr>
        <p:blipFill>
          <a:blip r:embed="rId3"/>
          <a:stretch>
            <a:fillRect/>
          </a:stretch>
        </p:blipFill>
        <p:spPr>
          <a:xfrm>
            <a:off x="5596128" y="2084374"/>
            <a:ext cx="5662879" cy="3603650"/>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SYSTEMATIC MAPPING OF PHYSICAL TELEMETRY GROUPS ACROSS ALL BENCHMARK DATASETS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3A // STATE COMPRESSION // REF: BUS_PRUNE</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Filtering steady-state noise to capture real machine degradation</a:t>
            </a:r>
          </a:p>
          <a:p>
            <a:pPr>
              <a:defRPr sz="1000">
                <a:solidFill>
                  <a:srgbClr val="8CB9AA"/>
                </a:solidFill>
                <a:latin typeface="Consolas"/>
              </a:defRPr>
            </a:pPr>
            <a:r>
              <a:t>HOW COMPRESSING 6.5 MILLION ROWS INTO 1,023 DISTINCT STATES PREVENTED CLASS IMBALANCE</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[PRUNING-SPEC]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PRUNING METHODOLOGY</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99.98%</a:t>
            </a:r>
          </a:p>
          <a:p>
            <a:pPr>
              <a:defRPr sz="950" b="1">
                <a:solidFill>
                  <a:srgbClr val="D9A45B"/>
                </a:solidFill>
                <a:latin typeface="Consolas"/>
              </a:defRPr>
            </a:pPr>
            <a:r>
              <a:t>DATA REDUCTION</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Catching Regime Changes: </a:t>
            </a:r>
            <a:r>
              <a:rPr sz="1150">
                <a:solidFill>
                  <a:srgbClr val="8CB9AA"/>
                </a:solidFill>
                <a:latin typeface="Consolas"/>
              </a:rPr>
              <a:t>Change-point algorithms flagged when a machine shifted operating states or began developing physical wear.</a:t>
            </a:r>
          </a:p>
          <a:p>
            <a:pPr>
              <a:spcAft>
                <a:spcPts val="550"/>
              </a:spcAft>
            </a:pPr>
            <a:r>
              <a:rPr sz="1200" b="1">
                <a:solidFill>
                  <a:srgbClr val="D9A45B"/>
                </a:solidFill>
                <a:latin typeface="Consolas"/>
              </a:rPr>
              <a:t>Authentic Centroids: </a:t>
            </a:r>
            <a:r>
              <a:rPr sz="1150">
                <a:solidFill>
                  <a:srgbClr val="8CB9AA"/>
                </a:solidFill>
                <a:latin typeface="Consolas"/>
              </a:rPr>
              <a:t>Selected real historical observations as representative points, avoiding artificial averages that never happened in the plant.</a:t>
            </a:r>
          </a:p>
          <a:p>
            <a:pPr>
              <a:spcAft>
                <a:spcPts val="550"/>
              </a:spcAft>
            </a:pPr>
            <a:r>
              <a:rPr sz="1200" b="1">
                <a:solidFill>
                  <a:srgbClr val="D9A45B"/>
                </a:solidFill>
                <a:latin typeface="Consolas"/>
              </a:rPr>
              <a:t>1,023 DecisionStates: </a:t>
            </a:r>
            <a:r>
              <a:rPr sz="1150">
                <a:solidFill>
                  <a:srgbClr val="8CB9AA"/>
                </a:solidFill>
                <a:latin typeface="Consolas"/>
              </a:rPr>
              <a:t>Harvested a balanced mix: 328 Nominal, 266 Watch, 95 Degrading, and 334 Critical states.</a:t>
            </a:r>
          </a:p>
          <a:p>
            <a:pPr>
              <a:spcAft>
                <a:spcPts val="550"/>
              </a:spcAft>
            </a:pPr>
            <a:r>
              <a:rPr sz="1200" b="1">
                <a:solidFill>
                  <a:srgbClr val="D9A45B"/>
                </a:solidFill>
                <a:latin typeface="Consolas"/>
              </a:rPr>
              <a:t>Zero Lost Failures: </a:t>
            </a:r>
            <a:r>
              <a:rPr sz="1150">
                <a:solidFill>
                  <a:srgbClr val="8CB9AA"/>
                </a:solidFill>
                <a:latin typeface="Consolas"/>
              </a:rPr>
              <a:t>Retained 100 percent of historical degradation milestones and breakdown paths.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[SEVERITY-PLOT]</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DECISION SEVERITY STRATIFICATION</a:t>
            </a:r>
          </a:p>
        </p:txBody>
      </p:sp>
      <p:sp>
        <p:nvSpPr>
          <p:cNvPr id="47" name="Rectangle 46"/>
          <p:cNvSpPr/>
          <p:nvPr/>
        </p:nvSpPr>
        <p:spPr>
          <a:xfrm>
            <a:off x="5570728" y="2445080"/>
            <a:ext cx="5713679" cy="2882239"/>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severity_distribution_by_dataset.png"/>
          <p:cNvPicPr>
            <a:picLocks noChangeAspect="1"/>
          </p:cNvPicPr>
          <p:nvPr/>
        </p:nvPicPr>
        <p:blipFill>
          <a:blip r:embed="rId3"/>
          <a:stretch>
            <a:fillRect/>
          </a:stretch>
        </p:blipFill>
        <p:spPr>
          <a:xfrm>
            <a:off x="5596128" y="2470480"/>
            <a:ext cx="5662879" cy="2831439"/>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STRATIFIED STATE BALANCE ACROSS ALL 11 DATASETS PREVENTING FAILURE STARVATION</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3B // ACTION ONTOLOGY // REF: BUS_ACTIONS</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Defining 21 standard maintenance actions and initial preferences</a:t>
            </a:r>
          </a:p>
          <a:p>
            <a:pPr>
              <a:defRPr sz="1000">
                <a:solidFill>
                  <a:srgbClr val="8CB9AA"/>
                </a:solidFill>
                <a:latin typeface="Consolas"/>
              </a:defRPr>
            </a:pPr>
            <a:r>
              <a:t>ESTABLISHING CONSISTENT BASELINE PREFERENCES WITHOUT MANUAL HUMAN ANNOTATION COSTS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[CASCADE-SPEC]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ACTION PREFERENCE HARVESTING</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4,063 PAIRS</a:t>
            </a:r>
          </a:p>
          <a:p>
            <a:pPr>
              <a:defRPr sz="950" b="1">
                <a:solidFill>
                  <a:srgbClr val="D9A45B"/>
                </a:solidFill>
                <a:latin typeface="Consolas"/>
              </a:defRPr>
            </a:pPr>
            <a:r>
              <a:t>80.0% STABILITY</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5 Action Categories: </a:t>
            </a:r>
            <a:r>
              <a:rPr sz="1150">
                <a:solidFill>
                  <a:srgbClr val="8CB9AA"/>
                </a:solidFill>
                <a:latin typeface="Consolas"/>
              </a:rPr>
              <a:t>Inspection, routine servicing, mechanical alignment, component replacement, and operating adjustments.</a:t>
            </a:r>
          </a:p>
          <a:p>
            <a:pPr>
              <a:spcAft>
                <a:spcPts val="550"/>
              </a:spcAft>
            </a:pPr>
            <a:r>
              <a:rPr sz="1200" b="1">
                <a:solidFill>
                  <a:srgbClr val="D9A45B"/>
                </a:solidFill>
                <a:latin typeface="Consolas"/>
              </a:rPr>
              <a:t>Multi-Model Cascade: </a:t>
            </a:r>
            <a:r>
              <a:rPr sz="1150">
                <a:solidFill>
                  <a:srgbClr val="8CB9AA"/>
                </a:solidFill>
                <a:latin typeface="Consolas"/>
              </a:rPr>
              <a:t>Used a fallback pool of large language models to rank action suitability for each state.</a:t>
            </a:r>
          </a:p>
          <a:p>
            <a:pPr>
              <a:spcAft>
                <a:spcPts val="550"/>
              </a:spcAft>
            </a:pPr>
            <a:r>
              <a:rPr sz="1200" b="1">
                <a:solidFill>
                  <a:srgbClr val="D9A45B"/>
                </a:solidFill>
                <a:latin typeface="Consolas"/>
              </a:rPr>
              <a:t>Deterministic Queries: </a:t>
            </a:r>
            <a:r>
              <a:rPr sz="1150">
                <a:solidFill>
                  <a:srgbClr val="8CB9AA"/>
                </a:solidFill>
                <a:latin typeface="Consolas"/>
              </a:rPr>
              <a:t>Zero temperature queries ensured consistent outputs across repeated checks.</a:t>
            </a:r>
          </a:p>
          <a:p>
            <a:pPr>
              <a:spcAft>
                <a:spcPts val="550"/>
              </a:spcAft>
            </a:pPr>
            <a:r>
              <a:rPr sz="1200" b="1">
                <a:solidFill>
                  <a:srgbClr val="D9A45B"/>
                </a:solidFill>
                <a:latin typeface="Consolas"/>
              </a:rPr>
              <a:t>Policy Learning Target: </a:t>
            </a:r>
            <a:r>
              <a:rPr sz="1150">
                <a:solidFill>
                  <a:srgbClr val="8CB9AA"/>
                </a:solidFill>
                <a:latin typeface="Consolas"/>
              </a:rPr>
              <a:t>Produced 4,063 pairwise comparisons to train downstream ranking algorithms without manual survey costs.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[ONTOLOGY-MAP]</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CANONICAL 20-ACTION MAINTENANCE ONTOLOGY</a:t>
            </a:r>
          </a:p>
        </p:txBody>
      </p:sp>
      <p:sp>
        <p:nvSpPr>
          <p:cNvPr id="47" name="Rectangle 46"/>
          <p:cNvSpPr/>
          <p:nvPr/>
        </p:nvSpPr>
        <p:spPr>
          <a:xfrm>
            <a:off x="5570728" y="2383527"/>
            <a:ext cx="5713679" cy="3005345"/>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action_ontology_mapping.png"/>
          <p:cNvPicPr>
            <a:picLocks noChangeAspect="1"/>
          </p:cNvPicPr>
          <p:nvPr/>
        </p:nvPicPr>
        <p:blipFill>
          <a:blip r:embed="rId3"/>
          <a:stretch>
            <a:fillRect/>
          </a:stretch>
        </p:blipFill>
        <p:spPr>
          <a:xfrm>
            <a:off x="5596128" y="2408927"/>
            <a:ext cx="5662879" cy="2954545"/>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STRUCTURED HIERARCHY OF INDUSTRIAL MAINTENANCE ACTIONS WITH CLEAR COST AND DOWNTIME BOUNDARIES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4 // RANKING ENGINE // REF: BUS_L2R</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Combining decision trees with historical case memory</a:t>
            </a:r>
          </a:p>
          <a:p>
            <a:pPr>
              <a:defRPr sz="1000">
                <a:solidFill>
                  <a:srgbClr val="8CB9AA"/>
                </a:solidFill>
                <a:latin typeface="Consolas"/>
              </a:defRPr>
            </a:pPr>
            <a:r>
              <a:t>HOW THE HYBRID RECOMMENDER OUTPERFORMS ISOLATED MODELS AND STANDARD PLANT HEURISTICS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[RANK-SPEC]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DUAL-ENGINE ARCHITECTURE</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0.9339</a:t>
            </a:r>
          </a:p>
          <a:p>
            <a:pPr>
              <a:defRPr sz="950" b="1">
                <a:solidFill>
                  <a:srgbClr val="D9A45B"/>
                </a:solidFill>
                <a:latin typeface="Consolas"/>
              </a:defRPr>
            </a:pPr>
            <a:r>
              <a:t>TEST SET NDCG@3</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Global Decision Trees: </a:t>
            </a:r>
            <a:r>
              <a:rPr sz="1150">
                <a:solidFill>
                  <a:srgbClr val="8CB9AA"/>
                </a:solidFill>
                <a:latin typeface="Consolas"/>
              </a:rPr>
              <a:t>LightGBM splits across 40 continuous state features, giving rapid answers for common wear patterns.</a:t>
            </a:r>
          </a:p>
          <a:p>
            <a:pPr>
              <a:spcAft>
                <a:spcPts val="550"/>
              </a:spcAft>
            </a:pPr>
            <a:r>
              <a:rPr sz="1200" b="1">
                <a:solidFill>
                  <a:srgbClr val="D9A45B"/>
                </a:solidFill>
                <a:latin typeface="Consolas"/>
              </a:rPr>
              <a:t>Analogical Case Memory: </a:t>
            </a:r>
            <a:r>
              <a:rPr sz="1150">
                <a:solidFill>
                  <a:srgbClr val="8CB9AA"/>
                </a:solidFill>
                <a:latin typeface="Consolas"/>
              </a:rPr>
              <a:t>Case-based reasoning recalls rare past failures when tree splits lack sufficient sample density.</a:t>
            </a:r>
          </a:p>
          <a:p>
            <a:pPr>
              <a:spcAft>
                <a:spcPts val="550"/>
              </a:spcAft>
            </a:pPr>
            <a:r>
              <a:rPr sz="1200" b="1">
                <a:solidFill>
                  <a:srgbClr val="D9A45B"/>
                </a:solidFill>
                <a:latin typeface="Consolas"/>
              </a:rPr>
              <a:t>Balanced Fusion: </a:t>
            </a:r>
            <a:r>
              <a:rPr sz="1150">
                <a:solidFill>
                  <a:srgbClr val="8CB9AA"/>
                </a:solidFill>
                <a:latin typeface="Consolas"/>
              </a:rPr>
              <a:t>Combining both models at a 3-to-1 ratio avoids the blind spots of either model operating alone.</a:t>
            </a:r>
          </a:p>
          <a:p>
            <a:pPr>
              <a:spcAft>
                <a:spcPts val="550"/>
              </a:spcAft>
            </a:pPr>
            <a:r>
              <a:rPr sz="1200" b="1">
                <a:solidFill>
                  <a:srgbClr val="D9A45B"/>
                </a:solidFill>
                <a:latin typeface="Consolas"/>
              </a:rPr>
              <a:t>Empirical Validation: </a:t>
            </a:r>
            <a:r>
              <a:rPr sz="1150">
                <a:solidFill>
                  <a:srgbClr val="8CB9AA"/>
                </a:solidFill>
                <a:latin typeface="Consolas"/>
              </a:rPr>
              <a:t>Reached 83.1 percent top-1 recommendation accuracy on held-out test states, outperforming standard rules.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[NDCG-CHART]</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EMPIRICAL BASELINE COMPARISON</a:t>
            </a:r>
          </a:p>
        </p:txBody>
      </p:sp>
      <p:sp>
        <p:nvSpPr>
          <p:cNvPr id="47" name="Rectangle 46"/>
          <p:cNvSpPr/>
          <p:nvPr/>
        </p:nvSpPr>
        <p:spPr>
          <a:xfrm>
            <a:off x="5570728" y="2445080"/>
            <a:ext cx="5713679" cy="2882239"/>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baseline_comparison_ndcg.png"/>
          <p:cNvPicPr>
            <a:picLocks noChangeAspect="1"/>
          </p:cNvPicPr>
          <p:nvPr/>
        </p:nvPicPr>
        <p:blipFill>
          <a:blip r:embed="rId3"/>
          <a:stretch>
            <a:fillRect/>
          </a:stretch>
        </p:blipFill>
        <p:spPr>
          <a:xfrm>
            <a:off x="5596128" y="2470480"/>
            <a:ext cx="5662879" cy="2831439"/>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FROZEN HYBRID RECOMMENDER VS RANDOM, NO-MAINTENANCE, AND HEURISTIC BASELINES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EPISTEMIC SHIFT // REALITY CHECK // REF: BUS_CHASM</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Moving beyond lab benchmarks to real factory environments</a:t>
            </a:r>
          </a:p>
          <a:p>
            <a:pPr>
              <a:defRPr sz="1000">
                <a:solidFill>
                  <a:srgbClr val="8CB9AA"/>
                </a:solidFill>
                <a:latin typeface="Consolas"/>
              </a:defRPr>
            </a:pPr>
            <a:r>
              <a:t>WHY MODEL ACCURACY ON PUBLIC DATASETS CANNOT GUARANTEE FACTORY FLOOR SUCCESS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702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0702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702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0702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[LAB-LIMITS]</a:t>
            </a:r>
          </a:p>
        </p:txBody>
      </p:sp>
      <p:sp>
        <p:nvSpPr>
          <p:cNvPr id="32" name="TextBox 31"/>
          <p:cNvSpPr txBox="1"/>
          <p:nvPr/>
        </p:nvSpPr>
        <p:spPr>
          <a:xfrm>
            <a:off x="960120" y="1709928"/>
            <a:ext cx="3712464" cy="274320"/>
          </a:xfrm>
          <a:prstGeom prst="rect">
            <a:avLst/>
          </a:prstGeom>
          <a:noFill/>
        </p:spPr>
        <p:txBody>
          <a:bodyPr wrap="square" lIns="0" tIns="0" rIns="0" bIns="0">
            <a:spAutoFit/>
          </a:bodyPr>
          <a:lstStyle/>
          <a:p>
            <a:pPr>
              <a:defRPr sz="1300" b="1">
                <a:solidFill>
                  <a:srgbClr val="E8C27A"/>
                </a:solidFill>
                <a:latin typeface="Segoe UI"/>
              </a:defRPr>
            </a:pPr>
            <a:r>
              <a:t>LIMITATIONS OF LAB TESTING</a:t>
            </a:r>
          </a:p>
        </p:txBody>
      </p:sp>
      <p:sp>
        <p:nvSpPr>
          <p:cNvPr id="33" name="TextBox 32"/>
          <p:cNvSpPr txBox="1"/>
          <p:nvPr/>
        </p:nvSpPr>
        <p:spPr>
          <a:xfrm>
            <a:off x="960120"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Synthetic Assumptions: </a:t>
            </a:r>
            <a:r>
              <a:rPr sz="1150">
                <a:solidFill>
                  <a:srgbClr val="8CB9AA"/>
                </a:solidFill>
                <a:latin typeface="Consolas"/>
              </a:rPr>
              <a:t>Public benchmark preferences do not account for physical wrench time, parts delivery delays, or plant technician availability.</a:t>
            </a:r>
          </a:p>
          <a:p>
            <a:pPr>
              <a:spcAft>
                <a:spcPts val="550"/>
              </a:spcAft>
            </a:pPr>
            <a:r>
              <a:rPr sz="1200" b="1">
                <a:solidFill>
                  <a:srgbClr val="D9A45B"/>
                </a:solidFill>
                <a:latin typeface="Consolas"/>
              </a:rPr>
              <a:t>Idealized Sensor Feeds: </a:t>
            </a:r>
            <a:r>
              <a:rPr sz="1150">
                <a:solidFill>
                  <a:srgbClr val="8CB9AA"/>
                </a:solidFill>
                <a:latin typeface="Consolas"/>
              </a:rPr>
              <a:t>Lab datasets rarely contain missing channels, erratic telemetry dropouts, or uncalibrated factory transmitters.</a:t>
            </a:r>
          </a:p>
          <a:p>
            <a:pPr>
              <a:spcAft>
                <a:spcPts val="550"/>
              </a:spcAft>
            </a:pPr>
            <a:r>
              <a:rPr sz="1200" b="1">
                <a:solidFill>
                  <a:srgbClr val="D9A45B"/>
                </a:solidFill>
                <a:latin typeface="Consolas"/>
              </a:rPr>
              <a:t>No Closed-Loop Feedback: </a:t>
            </a:r>
            <a:r>
              <a:rPr sz="1150">
                <a:solidFill>
                  <a:srgbClr val="8CB9AA"/>
                </a:solidFill>
                <a:latin typeface="Consolas"/>
              </a:rPr>
              <a:t>High test accuracy on offline splits does not prove whether recommended actions actually stop a machine from seizing in a production line.</a:t>
            </a:r>
          </a:p>
        </p:txBody>
      </p:sp>
      <p:sp>
        <p:nvSpPr>
          <p:cNvPr id="34" name="Rectangle 33"/>
          <p:cNvSpPr/>
          <p:nvPr/>
        </p:nvSpPr>
        <p:spPr>
          <a:xfrm>
            <a:off x="6272784"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118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48288"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118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48288"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118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48288"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118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448288"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438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[FACTORY-TEST]</a:t>
            </a:r>
          </a:p>
        </p:txBody>
      </p:sp>
      <p:sp>
        <p:nvSpPr>
          <p:cNvPr id="45" name="TextBox 44"/>
          <p:cNvSpPr txBox="1"/>
          <p:nvPr/>
        </p:nvSpPr>
        <p:spPr>
          <a:xfrm>
            <a:off x="6501384" y="1709928"/>
            <a:ext cx="3712464" cy="274320"/>
          </a:xfrm>
          <a:prstGeom prst="rect">
            <a:avLst/>
          </a:prstGeom>
          <a:noFill/>
        </p:spPr>
        <p:txBody>
          <a:bodyPr wrap="square" lIns="0" tIns="0" rIns="0" bIns="0">
            <a:spAutoFit/>
          </a:bodyPr>
          <a:lstStyle/>
          <a:p>
            <a:pPr>
              <a:defRPr sz="1300" b="1">
                <a:solidFill>
                  <a:srgbClr val="E8C27A"/>
                </a:solidFill>
                <a:latin typeface="Segoe UI"/>
              </a:defRPr>
            </a:pPr>
            <a:r>
              <a:t>THE PHASE 5 PLANT TEST</a:t>
            </a:r>
          </a:p>
        </p:txBody>
      </p:sp>
      <p:sp>
        <p:nvSpPr>
          <p:cNvPr id="46" name="TextBox 45"/>
          <p:cNvSpPr txBox="1"/>
          <p:nvPr/>
        </p:nvSpPr>
        <p:spPr>
          <a:xfrm>
            <a:off x="6501384"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Real Maintenance Logs: </a:t>
            </a:r>
            <a:r>
              <a:rPr sz="1150">
                <a:solidFill>
                  <a:srgbClr val="8CB9AA"/>
                </a:solidFill>
                <a:latin typeface="Consolas"/>
              </a:rPr>
              <a:t>Evaluate models against actual work orders written and executed by factory mechanics.</a:t>
            </a:r>
          </a:p>
          <a:p>
            <a:pPr>
              <a:spcAft>
                <a:spcPts val="550"/>
              </a:spcAft>
            </a:pPr>
            <a:r>
              <a:rPr sz="1200" b="1">
                <a:solidFill>
                  <a:srgbClr val="D9A45B"/>
                </a:solidFill>
                <a:latin typeface="Consolas"/>
              </a:rPr>
              <a:t>Locked Model Parameters: </a:t>
            </a:r>
            <a:r>
              <a:rPr sz="1150">
                <a:solidFill>
                  <a:srgbClr val="8CB9AA"/>
                </a:solidFill>
                <a:latin typeface="Consolas"/>
              </a:rPr>
              <a:t>Model weights were frozen to ensure zero tuning on the test set before external evaluation began.</a:t>
            </a:r>
          </a:p>
          <a:p>
            <a:pPr>
              <a:spcAft>
                <a:spcPts val="550"/>
              </a:spcAft>
            </a:pPr>
            <a:r>
              <a:rPr sz="1200" b="1">
                <a:solidFill>
                  <a:srgbClr val="D9A45B"/>
                </a:solidFill>
                <a:latin typeface="Consolas"/>
              </a:rPr>
              <a:t>Completely Unseen Assets: </a:t>
            </a:r>
            <a:r>
              <a:rPr sz="1150">
                <a:solidFill>
                  <a:srgbClr val="8CB9AA"/>
                </a:solidFill>
                <a:latin typeface="Consolas"/>
              </a:rPr>
              <a:t>Test whether representations learned on turbofans, bearings, and compressors generalize to heavy slurry pumps.</a:t>
            </a:r>
          </a:p>
        </p:txBody>
      </p:sp>
      <p:cxnSp>
        <p:nvCxnSpPr>
          <p:cNvPr id="47" name="Connector 46"/>
          <p:cNvCxnSpPr/>
          <p:nvPr/>
        </p:nvCxnSpPr>
        <p:spPr>
          <a:xfrm>
            <a:off x="5907024" y="3749039"/>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5830824" y="3672839"/>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68924" y="3710939"/>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196584" y="3672839"/>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234684" y="3710939"/>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5 // DATASET AUDIT // REF: BUS_GATE</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Auditing candidate industrial datasets against real-world criteria</a:t>
            </a:r>
          </a:p>
          <a:p>
            <a:pPr>
              <a:defRPr sz="1000">
                <a:solidFill>
                  <a:srgbClr val="8CB9AA"/>
                </a:solidFill>
                <a:latin typeface="Consolas"/>
              </a:defRPr>
            </a:pPr>
            <a:r>
              <a:t>DISQUALIFYING SYNTHETIC LAB SETS IN FAVOR OF OPERATING MACHINES WITH LOGGED WORK ORDERS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[AUDIT-SPEC]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STRICT SCREENING GATE</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2 QUALIFIED</a:t>
            </a:r>
          </a:p>
          <a:p>
            <a:pPr>
              <a:defRPr sz="950" b="1">
                <a:solidFill>
                  <a:srgbClr val="D9A45B"/>
                </a:solidFill>
                <a:latin typeface="Consolas"/>
              </a:defRPr>
            </a:pPr>
            <a:r>
              <a:t>6 CANDIDATES</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20 Feasibility Tests: </a:t>
            </a:r>
            <a:r>
              <a:rPr sz="1150">
                <a:solidFill>
                  <a:srgbClr val="8CB9AA"/>
                </a:solidFill>
                <a:latin typeface="Consolas"/>
              </a:rPr>
              <a:t>Candidate datasets had to pass continuous telemetry checks, verified failure timestamps, and authentic work orders.</a:t>
            </a:r>
          </a:p>
          <a:p>
            <a:pPr>
              <a:spcAft>
                <a:spcPts val="550"/>
              </a:spcAft>
            </a:pPr>
            <a:r>
              <a:rPr sz="1200" b="1">
                <a:solidFill>
                  <a:srgbClr val="D9A45B"/>
                </a:solidFill>
                <a:latin typeface="Consolas"/>
              </a:rPr>
              <a:t>Azure PM Disqualified: </a:t>
            </a:r>
            <a:r>
              <a:rPr sz="1150">
                <a:solidFill>
                  <a:srgbClr val="8CB9AA"/>
                </a:solidFill>
                <a:latin typeface="Consolas"/>
              </a:rPr>
              <a:t>We excluded the Microsoft Azure predictive maintenance dataset because our audit proved its error codes were artificially generated.</a:t>
            </a:r>
          </a:p>
          <a:p>
            <a:pPr>
              <a:spcAft>
                <a:spcPts val="550"/>
              </a:spcAft>
            </a:pPr>
            <a:r>
              <a:rPr sz="1200" b="1">
                <a:solidFill>
                  <a:srgbClr val="D9A45B"/>
                </a:solidFill>
                <a:latin typeface="Consolas"/>
              </a:rPr>
              <a:t>Slurry Pumps Selected: </a:t>
            </a:r>
            <a:r>
              <a:rPr sz="1150">
                <a:solidFill>
                  <a:srgbClr val="8CB9AA"/>
                </a:solidFill>
                <a:latin typeface="Consolas"/>
              </a:rPr>
              <a:t>Six heavy slurry pumps with 52,000 hours of continuous vibration and pressure telemetry, plus 63 human repair orders.</a:t>
            </a:r>
          </a:p>
          <a:p>
            <a:pPr>
              <a:spcAft>
                <a:spcPts val="550"/>
              </a:spcAft>
            </a:pPr>
            <a:r>
              <a:rPr sz="1200" b="1">
                <a:solidFill>
                  <a:srgbClr val="D9A45B"/>
                </a:solidFill>
                <a:latin typeface="Consolas"/>
              </a:rPr>
              <a:t>Rotating Machinery Selected: </a:t>
            </a:r>
            <a:r>
              <a:rPr sz="1150">
                <a:solidFill>
                  <a:srgbClr val="8CB9AA"/>
                </a:solidFill>
                <a:latin typeface="Consolas"/>
              </a:rPr>
              <a:t>80 industrial machines with complete overhaul and vibration monitoring histories.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[AUDIT-MATRIX]</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DATASET FEASIBILITY SCREENING MATRIX</a:t>
            </a:r>
          </a:p>
        </p:txBody>
      </p:sp>
      <p:sp>
        <p:nvSpPr>
          <p:cNvPr id="47" name="Rectangle 46"/>
          <p:cNvSpPr/>
          <p:nvPr/>
        </p:nvSpPr>
        <p:spPr>
          <a:xfrm>
            <a:off x="5570728" y="2458563"/>
            <a:ext cx="5713679" cy="2855273"/>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dataset_compatibility_matrix.png"/>
          <p:cNvPicPr>
            <a:picLocks noChangeAspect="1"/>
          </p:cNvPicPr>
          <p:nvPr/>
        </p:nvPicPr>
        <p:blipFill>
          <a:blip r:embed="rId3"/>
          <a:stretch>
            <a:fillRect/>
          </a:stretch>
        </p:blipFill>
        <p:spPr>
          <a:xfrm>
            <a:off x="5596128" y="2483963"/>
            <a:ext cx="5662879" cy="2804473"/>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AUDIT MATRIX HIGHLIGHTING ACCEPTED VERSUS REJECTED PUBLIC MAINTENANCE DATASETS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5 // ZERO-SHOT TEST // REF: BUS_OOD_EVAL</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Zero-shot action recommendations on unseen slurry pumps</a:t>
            </a:r>
          </a:p>
          <a:p>
            <a:pPr>
              <a:defRPr sz="1000">
                <a:solidFill>
                  <a:srgbClr val="8CB9AA"/>
                </a:solidFill>
                <a:latin typeface="Consolas"/>
              </a:defRPr>
            </a:pPr>
            <a:r>
              <a:t>THE FROZEN MODEL OUTPERFORMS STANDARD DOMAIN RULES BY 45 PERCENT OUT OF THE BOX</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48640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17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17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89204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ADC_PLOT</a:t>
            </a:r>
          </a:p>
        </p:txBody>
      </p:sp>
      <p:sp>
        <p:nvSpPr>
          <p:cNvPr id="32" name="TextBox 31"/>
          <p:cNvSpPr txBox="1"/>
          <p:nvPr/>
        </p:nvSpPr>
        <p:spPr>
          <a:xfrm>
            <a:off x="960120" y="1709928"/>
            <a:ext cx="4023360" cy="274320"/>
          </a:xfrm>
          <a:prstGeom prst="rect">
            <a:avLst/>
          </a:prstGeom>
          <a:noFill/>
        </p:spPr>
        <p:txBody>
          <a:bodyPr wrap="square" lIns="0" tIns="0" rIns="0" bIns="0">
            <a:spAutoFit/>
          </a:bodyPr>
          <a:lstStyle/>
          <a:p>
            <a:pPr>
              <a:defRPr sz="1300" b="1">
                <a:solidFill>
                  <a:srgbClr val="E8C27A"/>
                </a:solidFill>
                <a:latin typeface="Segoe UI"/>
              </a:defRPr>
            </a:pPr>
            <a:r>
              <a:t>ACTION MATCH ON WORK ORDERS</a:t>
            </a:r>
          </a:p>
        </p:txBody>
      </p:sp>
      <p:sp>
        <p:nvSpPr>
          <p:cNvPr id="33" name="TextBox 32"/>
          <p:cNvSpPr txBox="1"/>
          <p:nvPr/>
        </p:nvSpPr>
        <p:spPr>
          <a:xfrm>
            <a:off x="960120" y="2082800"/>
            <a:ext cx="1828800" cy="203200"/>
          </a:xfrm>
          <a:prstGeom prst="rect">
            <a:avLst/>
          </a:prstGeom>
          <a:noFill/>
        </p:spPr>
        <p:txBody>
          <a:bodyPr wrap="none" lIns="0" tIns="0" rIns="0" bIns="0">
            <a:spAutoFit/>
          </a:bodyPr>
          <a:lstStyle/>
          <a:p>
            <a:pPr>
              <a:defRPr sz="1050" b="0">
                <a:solidFill>
                  <a:srgbClr val="8CB9AA"/>
                </a:solidFill>
                <a:latin typeface="Consolas"/>
              </a:defRPr>
            </a:pPr>
            <a:r>
              <a:t>RANDOM BASELINE (1/20)</a:t>
            </a:r>
          </a:p>
        </p:txBody>
      </p:sp>
      <p:sp>
        <p:nvSpPr>
          <p:cNvPr id="34" name="Rectangle 33"/>
          <p:cNvSpPr/>
          <p:nvPr/>
        </p:nvSpPr>
        <p:spPr>
          <a:xfrm>
            <a:off x="2880360" y="2108200"/>
            <a:ext cx="2377440" cy="139700"/>
          </a:xfrm>
          <a:prstGeom prst="rect">
            <a:avLst/>
          </a:prstGeom>
          <a:solidFill>
            <a:srgbClr val="103226"/>
          </a:solidFill>
          <a:ln w="9525">
            <a:solidFill>
              <a:srgbClr val="19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880360" y="2108200"/>
            <a:ext cx="296712" cy="139700"/>
          </a:xfrm>
          <a:prstGeom prst="rect">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94960" y="2082800"/>
            <a:ext cx="731520" cy="203200"/>
          </a:xfrm>
          <a:prstGeom prst="rect">
            <a:avLst/>
          </a:prstGeom>
          <a:noFill/>
        </p:spPr>
        <p:txBody>
          <a:bodyPr wrap="none" lIns="0" tIns="0" rIns="0" bIns="0">
            <a:spAutoFit/>
          </a:bodyPr>
          <a:lstStyle/>
          <a:p>
            <a:pPr>
              <a:defRPr sz="1100" b="1">
                <a:solidFill>
                  <a:srgbClr val="D9A45B"/>
                </a:solidFill>
                <a:latin typeface="Consolas"/>
              </a:defRPr>
            </a:pPr>
            <a:r>
              <a:t>3.2%</a:t>
            </a:r>
          </a:p>
        </p:txBody>
      </p:sp>
      <p:sp>
        <p:nvSpPr>
          <p:cNvPr id="37" name="TextBox 36"/>
          <p:cNvSpPr txBox="1"/>
          <p:nvPr/>
        </p:nvSpPr>
        <p:spPr>
          <a:xfrm>
            <a:off x="960120" y="3378200"/>
            <a:ext cx="1828800" cy="203200"/>
          </a:xfrm>
          <a:prstGeom prst="rect">
            <a:avLst/>
          </a:prstGeom>
          <a:noFill/>
        </p:spPr>
        <p:txBody>
          <a:bodyPr wrap="none" lIns="0" tIns="0" rIns="0" bIns="0">
            <a:spAutoFit/>
          </a:bodyPr>
          <a:lstStyle/>
          <a:p>
            <a:pPr>
              <a:defRPr sz="1050" b="0">
                <a:solidFill>
                  <a:srgbClr val="8CB9AA"/>
                </a:solidFill>
                <a:latin typeface="Consolas"/>
              </a:defRPr>
            </a:pPr>
            <a:r>
              <a:t>STANDARD PLANT RULES</a:t>
            </a:r>
          </a:p>
        </p:txBody>
      </p:sp>
      <p:sp>
        <p:nvSpPr>
          <p:cNvPr id="38" name="Rectangle 37"/>
          <p:cNvSpPr/>
          <p:nvPr/>
        </p:nvSpPr>
        <p:spPr>
          <a:xfrm>
            <a:off x="2880360" y="3403600"/>
            <a:ext cx="2377440" cy="139700"/>
          </a:xfrm>
          <a:prstGeom prst="rect">
            <a:avLst/>
          </a:prstGeom>
          <a:solidFill>
            <a:srgbClr val="103226"/>
          </a:solidFill>
          <a:ln w="9525">
            <a:solidFill>
              <a:srgbClr val="19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880360" y="3403600"/>
            <a:ext cx="1634256" cy="139700"/>
          </a:xfrm>
          <a:prstGeom prst="rect">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394960" y="3378200"/>
            <a:ext cx="731520" cy="203200"/>
          </a:xfrm>
          <a:prstGeom prst="rect">
            <a:avLst/>
          </a:prstGeom>
          <a:noFill/>
        </p:spPr>
        <p:txBody>
          <a:bodyPr wrap="none" lIns="0" tIns="0" rIns="0" bIns="0">
            <a:spAutoFit/>
          </a:bodyPr>
          <a:lstStyle/>
          <a:p>
            <a:pPr>
              <a:defRPr sz="1100" b="1">
                <a:solidFill>
                  <a:srgbClr val="D9A45B"/>
                </a:solidFill>
                <a:latin typeface="Consolas"/>
              </a:defRPr>
            </a:pPr>
            <a:r>
              <a:t>17.5%</a:t>
            </a:r>
          </a:p>
        </p:txBody>
      </p:sp>
      <p:sp>
        <p:nvSpPr>
          <p:cNvPr id="41" name="TextBox 40"/>
          <p:cNvSpPr txBox="1"/>
          <p:nvPr/>
        </p:nvSpPr>
        <p:spPr>
          <a:xfrm>
            <a:off x="960120" y="4673600"/>
            <a:ext cx="1828800" cy="203200"/>
          </a:xfrm>
          <a:prstGeom prst="rect">
            <a:avLst/>
          </a:prstGeom>
          <a:noFill/>
        </p:spPr>
        <p:txBody>
          <a:bodyPr wrap="none" lIns="0" tIns="0" rIns="0" bIns="0">
            <a:spAutoFit/>
          </a:bodyPr>
          <a:lstStyle/>
          <a:p>
            <a:pPr>
              <a:defRPr sz="1050" b="1">
                <a:solidFill>
                  <a:srgbClr val="FFFFFF"/>
                </a:solidFill>
                <a:latin typeface="Consolas"/>
              </a:defRPr>
            </a:pPr>
            <a:r>
              <a:t>FROZEN PRESCRIPTIVE MAS</a:t>
            </a:r>
          </a:p>
        </p:txBody>
      </p:sp>
      <p:sp>
        <p:nvSpPr>
          <p:cNvPr id="42" name="Rectangle 41"/>
          <p:cNvSpPr/>
          <p:nvPr/>
        </p:nvSpPr>
        <p:spPr>
          <a:xfrm>
            <a:off x="2880360" y="4699000"/>
            <a:ext cx="2377440" cy="139700"/>
          </a:xfrm>
          <a:prstGeom prst="rect">
            <a:avLst/>
          </a:prstGeom>
          <a:solidFill>
            <a:srgbClr val="103226"/>
          </a:solidFill>
          <a:ln w="9525">
            <a:solidFill>
              <a:srgbClr val="194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880360" y="4699000"/>
            <a:ext cx="2377440" cy="1397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394960" y="4673600"/>
            <a:ext cx="731520" cy="203200"/>
          </a:xfrm>
          <a:prstGeom prst="rect">
            <a:avLst/>
          </a:prstGeom>
          <a:noFill/>
        </p:spPr>
        <p:txBody>
          <a:bodyPr wrap="none" lIns="0" tIns="0" rIns="0" bIns="0">
            <a:spAutoFit/>
          </a:bodyPr>
          <a:lstStyle/>
          <a:p>
            <a:pPr>
              <a:defRPr sz="1100" b="1">
                <a:solidFill>
                  <a:srgbClr val="E8C27A"/>
                </a:solidFill>
                <a:latin typeface="Consolas"/>
              </a:defRPr>
            </a:pPr>
            <a:r>
              <a:t>25.4%</a:t>
            </a:r>
          </a:p>
        </p:txBody>
      </p:sp>
      <p:sp>
        <p:nvSpPr>
          <p:cNvPr id="45" name="Oval 44"/>
          <p:cNvSpPr/>
          <p:nvPr/>
        </p:nvSpPr>
        <p:spPr>
          <a:xfrm>
            <a:off x="5181600" y="46863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219700" y="47244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583680" y="1600200"/>
            <a:ext cx="487649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48208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48208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48208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48208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68528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[OOD-METRICS]</a:t>
            </a:r>
          </a:p>
        </p:txBody>
      </p:sp>
      <p:sp>
        <p:nvSpPr>
          <p:cNvPr id="58" name="TextBox 57"/>
          <p:cNvSpPr txBox="1"/>
          <p:nvPr/>
        </p:nvSpPr>
        <p:spPr>
          <a:xfrm>
            <a:off x="6812280" y="1709928"/>
            <a:ext cx="3413455" cy="274320"/>
          </a:xfrm>
          <a:prstGeom prst="rect">
            <a:avLst/>
          </a:prstGeom>
          <a:noFill/>
        </p:spPr>
        <p:txBody>
          <a:bodyPr wrap="square" lIns="0" tIns="0" rIns="0" bIns="0">
            <a:spAutoFit/>
          </a:bodyPr>
          <a:lstStyle/>
          <a:p>
            <a:pPr>
              <a:defRPr sz="1300" b="1">
                <a:solidFill>
                  <a:srgbClr val="E8C27A"/>
                </a:solidFill>
                <a:latin typeface="Segoe UI"/>
              </a:defRPr>
            </a:pPr>
            <a:r>
              <a:t>ZERO-SHOT FIELD FINDINGS</a:t>
            </a:r>
          </a:p>
        </p:txBody>
      </p:sp>
      <p:sp>
        <p:nvSpPr>
          <p:cNvPr id="59" name="TextBox 58"/>
          <p:cNvSpPr txBox="1"/>
          <p:nvPr/>
        </p:nvSpPr>
        <p:spPr>
          <a:xfrm>
            <a:off x="6812280" y="2075688"/>
            <a:ext cx="4419295" cy="777240"/>
          </a:xfrm>
          <a:prstGeom prst="rect">
            <a:avLst/>
          </a:prstGeom>
          <a:noFill/>
        </p:spPr>
        <p:txBody>
          <a:bodyPr wrap="square" lIns="0" tIns="0" rIns="0" bIns="0">
            <a:spAutoFit/>
          </a:bodyPr>
          <a:lstStyle/>
          <a:p>
            <a:pPr>
              <a:defRPr sz="2200" b="1">
                <a:solidFill>
                  <a:srgbClr val="E8C27A"/>
                </a:solidFill>
                <a:latin typeface="Segoe UI"/>
              </a:defRPr>
            </a:pPr>
            <a:r>
              <a:t>+45.5%</a:t>
            </a:r>
          </a:p>
          <a:p>
            <a:pPr>
              <a:defRPr sz="950" b="1">
                <a:solidFill>
                  <a:srgbClr val="D9A45B"/>
                </a:solidFill>
                <a:latin typeface="Consolas"/>
              </a:defRPr>
            </a:pPr>
            <a:r>
              <a:t>GAIN OVER DOMAIN RULES</a:t>
            </a:r>
          </a:p>
        </p:txBody>
      </p:sp>
      <p:sp>
        <p:nvSpPr>
          <p:cNvPr id="60" name="TextBox 59"/>
          <p:cNvSpPr txBox="1"/>
          <p:nvPr/>
        </p:nvSpPr>
        <p:spPr>
          <a:xfrm>
            <a:off x="6812280" y="2898648"/>
            <a:ext cx="4419295"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Exact Action Match: </a:t>
            </a:r>
            <a:r>
              <a:rPr sz="1150">
                <a:solidFill>
                  <a:srgbClr val="8CB9AA"/>
                </a:solidFill>
                <a:latin typeface="Consolas"/>
              </a:rPr>
              <a:t>25.4 percent exact agreement with physical work orders issued by plant mechanics, across an unconstrained 20-action candidate space.</a:t>
            </a:r>
          </a:p>
          <a:p>
            <a:pPr>
              <a:spcAft>
                <a:spcPts val="550"/>
              </a:spcAft>
            </a:pPr>
            <a:r>
              <a:rPr sz="1200" b="1">
                <a:solidFill>
                  <a:srgbClr val="D9A45B"/>
                </a:solidFill>
                <a:latin typeface="Consolas"/>
              </a:rPr>
              <a:t>Clear Baseline Margin: </a:t>
            </a:r>
            <a:r>
              <a:rPr sz="1150">
                <a:solidFill>
                  <a:srgbClr val="8CB9AA"/>
                </a:solidFill>
                <a:latin typeface="Consolas"/>
              </a:rPr>
              <a:t>Beat standard plant threshold rules (17.5 percent) by 45.5 percent relative, and scored eight times higher than random chance.</a:t>
            </a:r>
          </a:p>
          <a:p>
            <a:pPr>
              <a:spcAft>
                <a:spcPts val="550"/>
              </a:spcAft>
            </a:pPr>
            <a:r>
              <a:rPr sz="1200" b="1">
                <a:solidFill>
                  <a:srgbClr val="D9A45B"/>
                </a:solidFill>
                <a:latin typeface="Consolas"/>
              </a:rPr>
              <a:t>Zero Plant Tuning: </a:t>
            </a:r>
            <a:r>
              <a:rPr sz="1150">
                <a:solidFill>
                  <a:srgbClr val="8CB9AA"/>
                </a:solidFill>
                <a:latin typeface="Consolas"/>
              </a:rPr>
              <a:t>Evaluated with model parameters frozen and uniform action weights, confirming the system captured real physical degradation.</a:t>
            </a:r>
          </a:p>
          <a:p>
            <a:pPr>
              <a:spcAft>
                <a:spcPts val="550"/>
              </a:spcAft>
            </a:pPr>
            <a:r>
              <a:rPr sz="1200" b="1">
                <a:solidFill>
                  <a:srgbClr val="D9A45B"/>
                </a:solidFill>
                <a:latin typeface="Consolas"/>
              </a:rPr>
              <a:t>Correct Part Identification: </a:t>
            </a:r>
            <a:r>
              <a:rPr sz="1150">
                <a:solidFill>
                  <a:srgbClr val="8CB9AA"/>
                </a:solidFill>
                <a:latin typeface="Consolas"/>
              </a:rPr>
              <a:t>Accurately called for mechanical seal flushes and bearing replacements on pumps it had never encountered during training.</a:t>
            </a:r>
          </a:p>
        </p:txBody>
      </p:sp>
      <p:cxnSp>
        <p:nvCxnSpPr>
          <p:cNvPr id="61" name="Connector 60"/>
          <p:cNvCxnSpPr/>
          <p:nvPr/>
        </p:nvCxnSpPr>
        <p:spPr>
          <a:xfrm>
            <a:off x="6217920" y="365760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6141720"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6179820"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6507480"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6545580"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CASE STUDY // MAINTENANCE PARADOX // REF: BUS_PARADOX</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The calendar maintenance paradox: schedule vs condition</a:t>
            </a:r>
          </a:p>
          <a:p>
            <a:pPr>
              <a:defRPr sz="1000">
                <a:solidFill>
                  <a:srgbClr val="8CB9AA"/>
                </a:solidFill>
                <a:latin typeface="Consolas"/>
              </a:defRPr>
            </a:pPr>
            <a:r>
              <a:t>HOW A 'MISMATCH' WITH HUMAN WORK ORDERS REVEALED UNNECESSARY CALENDAR TEARDOWNS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175504" cy="31089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7024"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07024"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7024"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07024"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[CALENDAR-RULE]</a:t>
            </a:r>
          </a:p>
        </p:txBody>
      </p:sp>
      <p:sp>
        <p:nvSpPr>
          <p:cNvPr id="32" name="TextBox 31"/>
          <p:cNvSpPr txBox="1"/>
          <p:nvPr/>
        </p:nvSpPr>
        <p:spPr>
          <a:xfrm>
            <a:off x="960120" y="1709928"/>
            <a:ext cx="3712464" cy="274320"/>
          </a:xfrm>
          <a:prstGeom prst="rect">
            <a:avLst/>
          </a:prstGeom>
          <a:noFill/>
        </p:spPr>
        <p:txBody>
          <a:bodyPr wrap="square" lIns="0" tIns="0" rIns="0" bIns="0">
            <a:spAutoFit/>
          </a:bodyPr>
          <a:lstStyle/>
          <a:p>
            <a:pPr>
              <a:defRPr sz="1300" b="1">
                <a:solidFill>
                  <a:srgbClr val="E8C27A"/>
                </a:solidFill>
                <a:latin typeface="Segoe UI"/>
              </a:defRPr>
            </a:pPr>
            <a:r>
              <a:t>THE HUMAN CALENDAR ROUTINE</a:t>
            </a:r>
          </a:p>
        </p:txBody>
      </p:sp>
      <p:sp>
        <p:nvSpPr>
          <p:cNvPr id="33" name="TextBox 32"/>
          <p:cNvSpPr txBox="1"/>
          <p:nvPr/>
        </p:nvSpPr>
        <p:spPr>
          <a:xfrm>
            <a:off x="960120" y="2075688"/>
            <a:ext cx="4718304" cy="2514600"/>
          </a:xfrm>
          <a:prstGeom prst="rect">
            <a:avLst/>
          </a:prstGeom>
          <a:noFill/>
        </p:spPr>
        <p:txBody>
          <a:bodyPr wrap="square" lIns="0" tIns="0" rIns="0" bIns="0">
            <a:spAutoFit/>
          </a:bodyPr>
          <a:lstStyle/>
          <a:p>
            <a:pPr>
              <a:spcAft>
                <a:spcPts val="550"/>
              </a:spcAft>
            </a:pPr>
            <a:r>
              <a:rPr sz="1200" b="1">
                <a:solidFill>
                  <a:srgbClr val="D9A45B"/>
                </a:solidFill>
                <a:latin typeface="Consolas"/>
              </a:rPr>
              <a:t>Calendar-Driven Overhauls: </a:t>
            </a:r>
            <a:r>
              <a:rPr sz="1150">
                <a:solidFill>
                  <a:srgbClr val="8CB9AA"/>
                </a:solidFill>
                <a:latin typeface="Consolas"/>
              </a:rPr>
              <a:t>The plant schedule mandated full teardown of rotating machines every fixed number of operating hours, regardless of sensor data.</a:t>
            </a:r>
          </a:p>
          <a:p>
            <a:pPr>
              <a:spcAft>
                <a:spcPts val="550"/>
              </a:spcAft>
            </a:pPr>
            <a:r>
              <a:rPr sz="1200" b="1">
                <a:solidFill>
                  <a:srgbClr val="D9A45B"/>
                </a:solidFill>
                <a:latin typeface="Consolas"/>
              </a:rPr>
              <a:t>Assets Were Still Healthy: </a:t>
            </a:r>
            <a:r>
              <a:rPr sz="1150">
                <a:solidFill>
                  <a:srgbClr val="8CB9AA"/>
                </a:solidFill>
                <a:latin typeface="Consolas"/>
              </a:rPr>
              <a:t>Telemetry showed that 52.5 percent of overhauled machines were in good health, averaging a 74.2 percent health index.</a:t>
            </a:r>
          </a:p>
          <a:p>
            <a:pPr>
              <a:spcAft>
                <a:spcPts val="550"/>
              </a:spcAft>
            </a:pPr>
            <a:r>
              <a:rPr sz="1200" b="1">
                <a:solidFill>
                  <a:srgbClr val="D9A45B"/>
                </a:solidFill>
                <a:latin typeface="Consolas"/>
              </a:rPr>
              <a:t>Unnecessary Cost: </a:t>
            </a:r>
            <a:r>
              <a:rPr sz="1150">
                <a:solidFill>
                  <a:srgbClr val="8CB9AA"/>
                </a:solidFill>
                <a:latin typeface="Consolas"/>
              </a:rPr>
              <a:t>Teardowns cost roughly 1,200 dollars per machine in replacement parts, while adding risk of reassembly errors.</a:t>
            </a:r>
          </a:p>
        </p:txBody>
      </p:sp>
      <p:sp>
        <p:nvSpPr>
          <p:cNvPr id="34" name="Rectangle 33"/>
          <p:cNvSpPr/>
          <p:nvPr/>
        </p:nvSpPr>
        <p:spPr>
          <a:xfrm>
            <a:off x="6272784" y="1600200"/>
            <a:ext cx="5175504" cy="31089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1184"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48288"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1184"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48288"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1184"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48288"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1184"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448288"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438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[AI-PRUDENCE]</a:t>
            </a:r>
          </a:p>
        </p:txBody>
      </p:sp>
      <p:sp>
        <p:nvSpPr>
          <p:cNvPr id="45" name="TextBox 44"/>
          <p:cNvSpPr txBox="1"/>
          <p:nvPr/>
        </p:nvSpPr>
        <p:spPr>
          <a:xfrm>
            <a:off x="6501384" y="1709928"/>
            <a:ext cx="3712464" cy="274320"/>
          </a:xfrm>
          <a:prstGeom prst="rect">
            <a:avLst/>
          </a:prstGeom>
          <a:noFill/>
        </p:spPr>
        <p:txBody>
          <a:bodyPr wrap="square" lIns="0" tIns="0" rIns="0" bIns="0">
            <a:spAutoFit/>
          </a:bodyPr>
          <a:lstStyle/>
          <a:p>
            <a:pPr>
              <a:defRPr sz="1300" b="1">
                <a:solidFill>
                  <a:srgbClr val="E8C27A"/>
                </a:solidFill>
                <a:latin typeface="Segoe UI"/>
              </a:defRPr>
            </a:pPr>
            <a:r>
              <a:t>WHAT THE MODEL RECOMMENDED</a:t>
            </a:r>
          </a:p>
        </p:txBody>
      </p:sp>
      <p:sp>
        <p:nvSpPr>
          <p:cNvPr id="46" name="TextBox 45"/>
          <p:cNvSpPr txBox="1"/>
          <p:nvPr/>
        </p:nvSpPr>
        <p:spPr>
          <a:xfrm>
            <a:off x="6501384" y="2075688"/>
            <a:ext cx="4718304" cy="2514600"/>
          </a:xfrm>
          <a:prstGeom prst="rect">
            <a:avLst/>
          </a:prstGeom>
          <a:noFill/>
        </p:spPr>
        <p:txBody>
          <a:bodyPr wrap="square" lIns="0" tIns="0" rIns="0" bIns="0">
            <a:spAutoFit/>
          </a:bodyPr>
          <a:lstStyle/>
          <a:p>
            <a:pPr>
              <a:spcAft>
                <a:spcPts val="550"/>
              </a:spcAft>
            </a:pPr>
            <a:r>
              <a:rPr sz="1200" b="1">
                <a:solidFill>
                  <a:srgbClr val="D9A45B"/>
                </a:solidFill>
                <a:latin typeface="Consolas"/>
              </a:rPr>
              <a:t>Refusal to Teardown: </a:t>
            </a:r>
            <a:r>
              <a:rPr sz="1150">
                <a:solidFill>
                  <a:srgbClr val="8CB9AA"/>
                </a:solidFill>
                <a:latin typeface="Consolas"/>
              </a:rPr>
              <a:t>The model scored zero exact matches on full overhauls because sensor readings indicated the bearings were healthy.</a:t>
            </a:r>
          </a:p>
          <a:p>
            <a:pPr>
              <a:spcAft>
                <a:spcPts val="550"/>
              </a:spcAft>
            </a:pPr>
            <a:r>
              <a:rPr sz="1200" b="1">
                <a:solidFill>
                  <a:srgbClr val="D9A45B"/>
                </a:solidFill>
                <a:latin typeface="Consolas"/>
              </a:rPr>
              <a:t>Targeted Inspection Instead: </a:t>
            </a:r>
            <a:r>
              <a:rPr sz="1150">
                <a:solidFill>
                  <a:srgbClr val="8CB9AA"/>
                </a:solidFill>
                <a:latin typeface="Consolas"/>
              </a:rPr>
              <a:t>In 90 percent of cases, the system recommended non-intrusive vibration monitoring and grease checks.</a:t>
            </a:r>
          </a:p>
          <a:p>
            <a:pPr>
              <a:spcAft>
                <a:spcPts val="550"/>
              </a:spcAft>
            </a:pPr>
            <a:r>
              <a:rPr sz="1200" b="1">
                <a:solidFill>
                  <a:srgbClr val="D9A45B"/>
                </a:solidFill>
                <a:latin typeface="Consolas"/>
              </a:rPr>
              <a:t>Smarter Spending: </a:t>
            </a:r>
            <a:r>
              <a:rPr sz="1150">
                <a:solidFill>
                  <a:srgbClr val="8CB9AA"/>
                </a:solidFill>
                <a:latin typeface="Consolas"/>
              </a:rPr>
              <a:t>By refusing to replace healthy components, the model would have saved 1,200 dollars per asset. Human disagreement here was an efficiency gain.</a:t>
            </a:r>
          </a:p>
        </p:txBody>
      </p:sp>
      <p:sp>
        <p:nvSpPr>
          <p:cNvPr id="47" name="Rectangle 46"/>
          <p:cNvSpPr/>
          <p:nvPr/>
        </p:nvSpPr>
        <p:spPr>
          <a:xfrm>
            <a:off x="731520"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9920"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059936"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9920"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059936"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29920"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059936"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33120"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34056"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REG_01</a:t>
            </a:r>
          </a:p>
        </p:txBody>
      </p:sp>
      <p:sp>
        <p:nvSpPr>
          <p:cNvPr id="56" name="TextBox 55"/>
          <p:cNvSpPr txBox="1"/>
          <p:nvPr/>
        </p:nvSpPr>
        <p:spPr>
          <a:xfrm>
            <a:off x="896112" y="5047488"/>
            <a:ext cx="2999232" cy="969264"/>
          </a:xfrm>
          <a:prstGeom prst="rect">
            <a:avLst/>
          </a:prstGeom>
          <a:noFill/>
        </p:spPr>
        <p:txBody>
          <a:bodyPr wrap="square" lIns="0" tIns="0" rIns="0" bIns="0">
            <a:spAutoFit/>
          </a:bodyPr>
          <a:lstStyle/>
          <a:p>
            <a:pPr>
              <a:defRPr sz="1000" b="1">
                <a:solidFill>
                  <a:srgbClr val="8CB9AA"/>
                </a:solidFill>
                <a:latin typeface="Consolas"/>
              </a:defRPr>
            </a:pPr>
            <a:r>
              <a:t>HEALTH AT TEARDOWN</a:t>
            </a:r>
          </a:p>
          <a:p>
            <a:pPr>
              <a:defRPr sz="2200" b="1">
                <a:solidFill>
                  <a:srgbClr val="E8C27A"/>
                </a:solidFill>
                <a:latin typeface="Segoe UI"/>
              </a:defRPr>
            </a:pPr>
            <a:r>
              <a:t>74.2 PERCENT</a:t>
            </a:r>
          </a:p>
          <a:p>
            <a:pPr>
              <a:defRPr sz="950">
                <a:solidFill>
                  <a:srgbClr val="D9A45B"/>
                </a:solidFill>
                <a:latin typeface="Consolas"/>
              </a:defRPr>
            </a:pPr>
            <a:r>
              <a:t>52.5% healthy assets</a:t>
            </a:r>
          </a:p>
        </p:txBody>
      </p:sp>
      <p:sp>
        <p:nvSpPr>
          <p:cNvPr id="57" name="Rectangle 56"/>
          <p:cNvSpPr/>
          <p:nvPr/>
        </p:nvSpPr>
        <p:spPr>
          <a:xfrm>
            <a:off x="4425696"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324096"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754112"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324096"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754112"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324096"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7754112"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4527296"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28232"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REG_02</a:t>
            </a:r>
          </a:p>
        </p:txBody>
      </p:sp>
      <p:sp>
        <p:nvSpPr>
          <p:cNvPr id="66" name="TextBox 65"/>
          <p:cNvSpPr txBox="1"/>
          <p:nvPr/>
        </p:nvSpPr>
        <p:spPr>
          <a:xfrm>
            <a:off x="4590288" y="5047488"/>
            <a:ext cx="2999232" cy="969264"/>
          </a:xfrm>
          <a:prstGeom prst="rect">
            <a:avLst/>
          </a:prstGeom>
          <a:noFill/>
        </p:spPr>
        <p:txBody>
          <a:bodyPr wrap="square" lIns="0" tIns="0" rIns="0" bIns="0">
            <a:spAutoFit/>
          </a:bodyPr>
          <a:lstStyle/>
          <a:p>
            <a:pPr>
              <a:defRPr sz="1000" b="1">
                <a:solidFill>
                  <a:srgbClr val="8CB9AA"/>
                </a:solidFill>
                <a:latin typeface="Consolas"/>
              </a:defRPr>
            </a:pPr>
            <a:r>
              <a:t>INSPECTION CALLS</a:t>
            </a:r>
          </a:p>
          <a:p>
            <a:pPr>
              <a:defRPr sz="2200" b="1">
                <a:solidFill>
                  <a:srgbClr val="E8C27A"/>
                </a:solidFill>
                <a:latin typeface="Segoe UI"/>
              </a:defRPr>
            </a:pPr>
            <a:r>
              <a:t>90.0 PERCENT</a:t>
            </a:r>
          </a:p>
          <a:p>
            <a:pPr>
              <a:defRPr sz="950">
                <a:solidFill>
                  <a:srgbClr val="D9A45B"/>
                </a:solidFill>
                <a:latin typeface="Consolas"/>
              </a:defRPr>
            </a:pPr>
            <a:r>
              <a:t>Replaced full teardowns</a:t>
            </a:r>
          </a:p>
        </p:txBody>
      </p:sp>
      <p:sp>
        <p:nvSpPr>
          <p:cNvPr id="67" name="Rectangle 66"/>
          <p:cNvSpPr/>
          <p:nvPr/>
        </p:nvSpPr>
        <p:spPr>
          <a:xfrm>
            <a:off x="8119872"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018272"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11448288"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018272"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448288"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018272"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1448288"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8221472"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122408"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REG_03</a:t>
            </a:r>
          </a:p>
        </p:txBody>
      </p:sp>
      <p:sp>
        <p:nvSpPr>
          <p:cNvPr id="76" name="TextBox 75"/>
          <p:cNvSpPr txBox="1"/>
          <p:nvPr/>
        </p:nvSpPr>
        <p:spPr>
          <a:xfrm>
            <a:off x="8284464" y="5047488"/>
            <a:ext cx="2999232" cy="969264"/>
          </a:xfrm>
          <a:prstGeom prst="rect">
            <a:avLst/>
          </a:prstGeom>
          <a:noFill/>
        </p:spPr>
        <p:txBody>
          <a:bodyPr wrap="square" lIns="0" tIns="0" rIns="0" bIns="0">
            <a:spAutoFit/>
          </a:bodyPr>
          <a:lstStyle/>
          <a:p>
            <a:pPr>
              <a:defRPr sz="1000" b="1">
                <a:solidFill>
                  <a:srgbClr val="8CB9AA"/>
                </a:solidFill>
                <a:latin typeface="Consolas"/>
              </a:defRPr>
            </a:pPr>
            <a:r>
              <a:t>PARTS SAVED</a:t>
            </a:r>
          </a:p>
          <a:p>
            <a:pPr>
              <a:defRPr sz="2200" b="1">
                <a:solidFill>
                  <a:srgbClr val="E8C27A"/>
                </a:solidFill>
                <a:latin typeface="Segoe UI"/>
              </a:defRPr>
            </a:pPr>
            <a:r>
              <a:t>$1,200 / ASSET</a:t>
            </a:r>
          </a:p>
          <a:p>
            <a:pPr>
              <a:defRPr sz="950">
                <a:solidFill>
                  <a:srgbClr val="D9A45B"/>
                </a:solidFill>
                <a:latin typeface="Consolas"/>
              </a:defRPr>
            </a:pPr>
            <a:r>
              <a:t>Avoided premature replacements</a:t>
            </a:r>
          </a:p>
        </p:txBody>
      </p:sp>
      <p:cxnSp>
        <p:nvCxnSpPr>
          <p:cNvPr id="77" name="Connector 76"/>
          <p:cNvCxnSpPr/>
          <p:nvPr/>
        </p:nvCxnSpPr>
        <p:spPr>
          <a:xfrm>
            <a:off x="2281428"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2319528"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357628"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319528"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357628"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a:off x="5975604"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6013704"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6051804"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6013704"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6051804"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7" name="Connector 86"/>
          <p:cNvCxnSpPr/>
          <p:nvPr/>
        </p:nvCxnSpPr>
        <p:spPr>
          <a:xfrm>
            <a:off x="9669780"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9707880"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9745980"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9707880"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9745980"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5 // HIERARCHICAL ACCURACY // REF: BUS_TIERS</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Measuring practical alignment through tiered decision agreement</a:t>
            </a:r>
          </a:p>
          <a:p>
            <a:pPr>
              <a:defRPr sz="1000">
                <a:solidFill>
                  <a:srgbClr val="8CB9AA"/>
                </a:solidFill>
                <a:latin typeface="Consolas"/>
              </a:defRPr>
            </a:pPr>
            <a:r>
              <a:t>HOW A MULTI-TIER ONTOLOGY EVALUATION CAPTURES REAL OPERATIONAL VALUE BEYOND EXACT MATCHES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[HIERARCHY-SPEC]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MULTI-TIER AGREEMENT</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58.7%</a:t>
            </a:r>
          </a:p>
          <a:p>
            <a:pPr>
              <a:defRPr sz="950" b="1">
                <a:solidFill>
                  <a:srgbClr val="D9A45B"/>
                </a:solidFill>
                <a:latin typeface="Consolas"/>
              </a:defRPr>
            </a:pPr>
            <a:r>
              <a:t>FAMILY AGREEMENT</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Operational Family (58.7%): </a:t>
            </a:r>
            <a:r>
              <a:rPr sz="1150">
                <a:solidFill>
                  <a:srgbClr val="8CB9AA"/>
                </a:solidFill>
                <a:latin typeface="Consolas"/>
              </a:rPr>
              <a:t>The system agreed with technicians on whether physical intervention was necessary versus continued monitoring.</a:t>
            </a:r>
          </a:p>
          <a:p>
            <a:pPr>
              <a:spcAft>
                <a:spcPts val="550"/>
              </a:spcAft>
            </a:pPr>
            <a:r>
              <a:rPr sz="1200" b="1">
                <a:solidFill>
                  <a:srgbClr val="D9A45B"/>
                </a:solidFill>
                <a:latin typeface="Consolas"/>
              </a:rPr>
              <a:t>Category Level (34.9%): </a:t>
            </a:r>
            <a:r>
              <a:rPr sz="1150">
                <a:solidFill>
                  <a:srgbClr val="8CB9AA"/>
                </a:solidFill>
                <a:latin typeface="Consolas"/>
              </a:rPr>
              <a:t>Matched the broader corrective class, such as distinguishing mechanical servicing from electrical adjustments.</a:t>
            </a:r>
          </a:p>
          <a:p>
            <a:pPr>
              <a:spcAft>
                <a:spcPts val="550"/>
              </a:spcAft>
            </a:pPr>
            <a:r>
              <a:rPr sz="1200" b="1">
                <a:solidFill>
                  <a:srgbClr val="D9A45B"/>
                </a:solidFill>
                <a:latin typeface="Consolas"/>
              </a:rPr>
              <a:t>Action Level (25.4%): </a:t>
            </a:r>
            <a:r>
              <a:rPr sz="1150">
                <a:solidFill>
                  <a:srgbClr val="8CB9AA"/>
                </a:solidFill>
                <a:latin typeface="Consolas"/>
              </a:rPr>
              <a:t>Exact 1-of-20 action match with human work orders.</a:t>
            </a:r>
          </a:p>
          <a:p>
            <a:pPr>
              <a:spcAft>
                <a:spcPts val="550"/>
              </a:spcAft>
            </a:pPr>
            <a:r>
              <a:rPr sz="1200" b="1">
                <a:solidFill>
                  <a:srgbClr val="D9A45B"/>
                </a:solidFill>
                <a:latin typeface="Consolas"/>
              </a:rPr>
              <a:t>Action + Component (20.6%): </a:t>
            </a:r>
            <a:r>
              <a:rPr sz="1150">
                <a:solidFill>
                  <a:srgbClr val="8CB9AA"/>
                </a:solidFill>
                <a:latin typeface="Consolas"/>
              </a:rPr>
              <a:t>Simultaneously identified both the exact repair procedure and the specific failing subsystem.</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[AGREEMENT-PYRAMID]</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HIERARCHICAL DECISION AGREEMENT</a:t>
            </a:r>
          </a:p>
        </p:txBody>
      </p:sp>
      <p:sp>
        <p:nvSpPr>
          <p:cNvPr id="47" name="Rectangle 46"/>
          <p:cNvSpPr/>
          <p:nvPr/>
        </p:nvSpPr>
        <p:spPr>
          <a:xfrm>
            <a:off x="5570728" y="2118375"/>
            <a:ext cx="5713679" cy="3535648"/>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3_hierarchical_agreement_pyramid.png"/>
          <p:cNvPicPr>
            <a:picLocks noChangeAspect="1"/>
          </p:cNvPicPr>
          <p:nvPr/>
        </p:nvPicPr>
        <p:blipFill>
          <a:blip r:embed="rId3"/>
          <a:stretch>
            <a:fillRect/>
          </a:stretch>
        </p:blipFill>
        <p:spPr>
          <a:xfrm>
            <a:off x="5596128" y="2143775"/>
            <a:ext cx="5662879" cy="3484848"/>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MULTI-TIER AGREEMENT RATES SHOWING ROBUST OPERATIONAL ALIGNMENT AT FAMILY AND CATEGORY LEVELS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5 // EARLY WARNING // REF: BUS_LEADTIME</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Anticipating equipment breakdowns before emergency shutdowns</a:t>
            </a:r>
          </a:p>
          <a:p>
            <a:pPr>
              <a:defRPr sz="1000">
                <a:solidFill>
                  <a:srgbClr val="8CB9AA"/>
                </a:solidFill>
                <a:latin typeface="Consolas"/>
              </a:defRPr>
            </a:pPr>
            <a:r>
              <a:t>THE SYSTEM DETECTED 95.7 PERCENT OF HISTORICAL PUMP FAILURES WITH ACTIONABLE EARLY WARNING</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[WARNING-SPEC]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EARLY WARNING METRICS</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95.7%</a:t>
            </a:r>
          </a:p>
          <a:p>
            <a:pPr>
              <a:defRPr sz="950" b="1">
                <a:solidFill>
                  <a:srgbClr val="D9A45B"/>
                </a:solidFill>
                <a:latin typeface="Consolas"/>
              </a:defRPr>
            </a:pPr>
            <a:r>
              <a:t>FAILURE ANTICIPATION</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30 of 39 Failures Caught: </a:t>
            </a:r>
            <a:r>
              <a:rPr sz="1150">
                <a:solidFill>
                  <a:srgbClr val="8CB9AA"/>
                </a:solidFill>
                <a:latin typeface="Consolas"/>
              </a:rPr>
              <a:t>The model flagged active physical degradation before emergency shutdowns occurred, catching 95.7 percent of failures within the 48-hour window.</a:t>
            </a:r>
          </a:p>
          <a:p>
            <a:pPr>
              <a:spcAft>
                <a:spcPts val="550"/>
              </a:spcAft>
            </a:pPr>
            <a:r>
              <a:rPr sz="1200" b="1">
                <a:solidFill>
                  <a:srgbClr val="D9A45B"/>
                </a:solidFill>
                <a:latin typeface="Consolas"/>
              </a:rPr>
              <a:t>Actionable Lead Time: </a:t>
            </a:r>
            <a:r>
              <a:rPr sz="1150">
                <a:solidFill>
                  <a:srgbClr val="8CB9AA"/>
                </a:solidFill>
                <a:latin typeface="Consolas"/>
              </a:rPr>
              <a:t>Delivered a median warning lead time of 0.4 hours, giving technicians enough time to schedule a controlled stop.</a:t>
            </a:r>
          </a:p>
          <a:p>
            <a:pPr>
              <a:spcAft>
                <a:spcPts val="550"/>
              </a:spcAft>
            </a:pPr>
            <a:r>
              <a:rPr sz="1200" b="1">
                <a:solidFill>
                  <a:srgbClr val="D9A45B"/>
                </a:solidFill>
                <a:latin typeface="Consolas"/>
              </a:rPr>
              <a:t>Failure Signature Evolution: </a:t>
            </a:r>
            <a:r>
              <a:rPr sz="1150">
                <a:solidFill>
                  <a:srgbClr val="8CB9AA"/>
                </a:solidFill>
                <a:latin typeface="Consolas"/>
              </a:rPr>
              <a:t>Vibration harmonics began escalating 2 to 6 hours before seizure, allowing non-intrusive checks to confirm the fault.</a:t>
            </a:r>
          </a:p>
          <a:p>
            <a:pPr>
              <a:spcAft>
                <a:spcPts val="550"/>
              </a:spcAft>
            </a:pPr>
            <a:r>
              <a:rPr sz="1200" b="1">
                <a:solidFill>
                  <a:srgbClr val="D9A45B"/>
                </a:solidFill>
                <a:latin typeface="Consolas"/>
              </a:rPr>
              <a:t>Seizure Prevention: </a:t>
            </a:r>
            <a:r>
              <a:rPr sz="1150">
                <a:solidFill>
                  <a:srgbClr val="8CB9AA"/>
                </a:solidFill>
                <a:latin typeface="Consolas"/>
              </a:rPr>
              <a:t>Prevented high-consequence impellers and mechanical seals from welding together under frictional heat.</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[LEADTIME-DIST]</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OPERATIONAL WARNING LEAD TIME</a:t>
            </a:r>
          </a:p>
        </p:txBody>
      </p:sp>
      <p:sp>
        <p:nvSpPr>
          <p:cNvPr id="47" name="Rectangle 46"/>
          <p:cNvSpPr/>
          <p:nvPr/>
        </p:nvSpPr>
        <p:spPr>
          <a:xfrm>
            <a:off x="5570728" y="2602382"/>
            <a:ext cx="5713679" cy="2567635"/>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8_failure_anticipation_lead_times.png"/>
          <p:cNvPicPr>
            <a:picLocks noChangeAspect="1"/>
          </p:cNvPicPr>
          <p:nvPr/>
        </p:nvPicPr>
        <p:blipFill>
          <a:blip r:embed="rId3"/>
          <a:stretch>
            <a:fillRect/>
          </a:stretch>
        </p:blipFill>
        <p:spPr>
          <a:xfrm>
            <a:off x="5596128" y="2627782"/>
            <a:ext cx="5662879" cy="2516835"/>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HIGH ANTICIPATION RATE AND LEAD TIME DISTRIBUTION PROVIDING ACTIONABLE MAINTENANCE WINDOWS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PHASE 5 // LOCALIZATION // REF: BUS_CONF</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Pinpointing failing subsystems and knowing when to ask for help</a:t>
            </a:r>
          </a:p>
          <a:p>
            <a:pPr>
              <a:defRPr sz="1000">
                <a:solidFill>
                  <a:srgbClr val="8CB9AA"/>
                </a:solidFill>
                <a:latin typeface="Consolas"/>
              </a:defRPr>
            </a:pPr>
            <a:r>
              <a:t>HOW COMPONENT IDENTIFICATION AND UNCERTAINTY ABSTENTION PROTECT THE FACTORY FLOOR</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[SUBSYS-SPEC]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SUBSYSTEM PERFORMANCE</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75.0%</a:t>
            </a:r>
          </a:p>
          <a:p>
            <a:pPr>
              <a:defRPr sz="950" b="1">
                <a:solidFill>
                  <a:srgbClr val="D9A45B"/>
                </a:solidFill>
                <a:latin typeface="Consolas"/>
              </a:defRPr>
            </a:pPr>
            <a:r>
              <a:t>SEAL &amp; VALVE RECALL</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Component Localization: </a:t>
            </a:r>
            <a:r>
              <a:rPr sz="1150">
                <a:solidFill>
                  <a:srgbClr val="8CB9AA"/>
                </a:solidFill>
                <a:latin typeface="Consolas"/>
              </a:rPr>
              <a:t>Decoupling which part is failing from what procedure to run clarifies the diagnostic pipeline.</a:t>
            </a:r>
          </a:p>
          <a:p>
            <a:pPr>
              <a:spcAft>
                <a:spcPts val="550"/>
              </a:spcAft>
            </a:pPr>
            <a:r>
              <a:rPr sz="1200" b="1">
                <a:solidFill>
                  <a:srgbClr val="D9A45B"/>
                </a:solidFill>
                <a:latin typeface="Consolas"/>
              </a:rPr>
              <a:t>Bearing Accuracy: </a:t>
            </a:r>
            <a:r>
              <a:rPr sz="1150">
                <a:solidFill>
                  <a:srgbClr val="8CB9AA"/>
                </a:solidFill>
                <a:latin typeface="Consolas"/>
              </a:rPr>
              <a:t>Identified bearing failures with 65.0 percent precision and 72.0 percent recall from high-frequency vibration.</a:t>
            </a:r>
          </a:p>
          <a:p>
            <a:pPr>
              <a:spcAft>
                <a:spcPts val="550"/>
              </a:spcAft>
            </a:pPr>
            <a:r>
              <a:rPr sz="1200" b="1">
                <a:solidFill>
                  <a:srgbClr val="D9A45B"/>
                </a:solidFill>
                <a:latin typeface="Consolas"/>
              </a:rPr>
              <a:t>Seal &amp; Valve Tracking: </a:t>
            </a:r>
            <a:r>
              <a:rPr sz="1150">
                <a:solidFill>
                  <a:srgbClr val="8CB9AA"/>
                </a:solidFill>
                <a:latin typeface="Consolas"/>
              </a:rPr>
              <a:t>Achieved 75.0 percent recall on leaking mechanical seals and throttled slurry valves.</a:t>
            </a:r>
          </a:p>
          <a:p>
            <a:pPr>
              <a:spcAft>
                <a:spcPts val="550"/>
              </a:spcAft>
            </a:pPr>
            <a:r>
              <a:rPr sz="1200" b="1">
                <a:solidFill>
                  <a:srgbClr val="D9A45B"/>
                </a:solidFill>
                <a:latin typeface="Consolas"/>
              </a:rPr>
              <a:t>Selective Prediction: </a:t>
            </a:r>
            <a:r>
              <a:rPr sz="1150">
                <a:solidFill>
                  <a:srgbClr val="8CB9AA"/>
                </a:solidFill>
                <a:latin typeface="Consolas"/>
              </a:rPr>
              <a:t>Abstaining on uncertain predictions raises top-1 exact match from 25.4 percent to 30.3 percent at 50 percent coverage.</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[COMPONENT-F1]</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COMPONENT IDENTIFICATION F1</a:t>
            </a:r>
          </a:p>
        </p:txBody>
      </p:sp>
      <p:sp>
        <p:nvSpPr>
          <p:cNvPr id="47" name="Rectangle 46"/>
          <p:cNvSpPr/>
          <p:nvPr/>
        </p:nvSpPr>
        <p:spPr>
          <a:xfrm>
            <a:off x="5570728" y="2242834"/>
            <a:ext cx="5713679" cy="3286730"/>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7_component_identification_f1.png"/>
          <p:cNvPicPr>
            <a:picLocks noChangeAspect="1"/>
          </p:cNvPicPr>
          <p:nvPr/>
        </p:nvPicPr>
        <p:blipFill>
          <a:blip r:embed="rId3"/>
          <a:stretch>
            <a:fillRect/>
          </a:stretch>
        </p:blipFill>
        <p:spPr>
          <a:xfrm>
            <a:off x="5596128" y="2268234"/>
            <a:ext cx="5662879" cy="3235930"/>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PRECISION, RECALL, AND F1 SCORES ACROSS ROTATING BEARINGS, SEALS, AND DRIVE ASSEMBLIES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ADAPTATION // PLANT TRANSFER // REF: BUS_ADAPT</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Adapting to a new factory using its first few work orders</a:t>
            </a:r>
          </a:p>
          <a:p>
            <a:pPr>
              <a:defRPr sz="1000">
                <a:solidFill>
                  <a:srgbClr val="8CB9AA"/>
                </a:solidFill>
                <a:latin typeface="Consolas"/>
              </a:defRPr>
            </a:pPr>
            <a:r>
              <a:t>HOW TUNING ACTION BASE RATES DOUBLED TOP-3 REPAIR RECALL ON UNTOUCHED FUTURE EVENTS</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[ADAPT-SPEC]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ACTION PRIOR ADAPTATION</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75.0%</a:t>
            </a:r>
          </a:p>
          <a:p>
            <a:pPr>
              <a:defRPr sz="950" b="1">
                <a:solidFill>
                  <a:srgbClr val="D9A45B"/>
                </a:solidFill>
                <a:latin typeface="Consolas"/>
              </a:defRPr>
            </a:pPr>
            <a:r>
              <a:t>TOP-3 REPAIR RECALL</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a:solidFill>
                  <a:srgbClr val="D9A45B"/>
                </a:solidFill>
                <a:latin typeface="Consolas"/>
              </a:rPr>
              <a:t>Strict Chronological Split: </a:t>
            </a:r>
            <a:r>
              <a:rPr sz="1150">
                <a:solidFill>
                  <a:srgbClr val="8CB9AA"/>
                </a:solidFill>
                <a:latin typeface="Consolas"/>
              </a:rPr>
              <a:t>We calibrated action frequency priors using early historical events (43 work orders), then tested strictly on the remaining 20 untouched future events.</a:t>
            </a:r>
          </a:p>
          <a:p>
            <a:pPr>
              <a:spcAft>
                <a:spcPts val="550"/>
              </a:spcAft>
            </a:pPr>
            <a:r>
              <a:rPr sz="1200" b="1">
                <a:solidFill>
                  <a:srgbClr val="D9A45B"/>
                </a:solidFill>
                <a:latin typeface="Consolas"/>
              </a:rPr>
              <a:t>Top-3 Recall Leap: </a:t>
            </a:r>
            <a:r>
              <a:rPr sz="1150">
                <a:solidFill>
                  <a:srgbClr val="8CB9AA"/>
                </a:solidFill>
                <a:latin typeface="Consolas"/>
              </a:rPr>
              <a:t>Recall jumped from 35.0 percent to 75.0 percent, more than doubling recommendation coverage on future repairs.</a:t>
            </a:r>
          </a:p>
          <a:p>
            <a:pPr>
              <a:spcAft>
                <a:spcPts val="550"/>
              </a:spcAft>
            </a:pPr>
            <a:r>
              <a:rPr sz="1200" b="1">
                <a:solidFill>
                  <a:srgbClr val="D9A45B"/>
                </a:solidFill>
                <a:latin typeface="Consolas"/>
              </a:rPr>
              <a:t>Ranking Quality Lift: </a:t>
            </a:r>
            <a:r>
              <a:rPr sz="1150">
                <a:solidFill>
                  <a:srgbClr val="8CB9AA"/>
                </a:solidFill>
                <a:latin typeface="Consolas"/>
              </a:rPr>
              <a:t>Mean reciprocal rank rose from 0.329 to 0.472 (p = 0.0010 on bootstrap test), placing the correct repair action closer to the top.</a:t>
            </a:r>
          </a:p>
          <a:p>
            <a:pPr>
              <a:spcAft>
                <a:spcPts val="550"/>
              </a:spcAft>
            </a:pPr>
            <a:r>
              <a:rPr sz="1200" b="1">
                <a:solidFill>
                  <a:srgbClr val="D9A45B"/>
                </a:solidFill>
                <a:latin typeface="Consolas"/>
              </a:rPr>
              <a:t>Rapid Calibration: </a:t>
            </a:r>
            <a:r>
              <a:rPr sz="1150">
                <a:solidFill>
                  <a:srgbClr val="8CB9AA"/>
                </a:solidFill>
                <a:latin typeface="Consolas"/>
              </a:rPr>
              <a:t>Updating action base rates takes seconds and avoids overfitting heavy decision trees to small sample sizes.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[EFFICIENCY-CURVE]</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FEW-SHOT ADAPTATION DATA-EFFICIENCY CURVE</a:t>
            </a:r>
          </a:p>
        </p:txBody>
      </p:sp>
      <p:sp>
        <p:nvSpPr>
          <p:cNvPr id="47" name="Rectangle 46"/>
          <p:cNvSpPr/>
          <p:nvPr/>
        </p:nvSpPr>
        <p:spPr>
          <a:xfrm>
            <a:off x="5570728" y="2118375"/>
            <a:ext cx="5713679" cy="3535648"/>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13_data_efficiency_curve.png"/>
          <p:cNvPicPr>
            <a:picLocks noChangeAspect="1"/>
          </p:cNvPicPr>
          <p:nvPr/>
        </p:nvPicPr>
        <p:blipFill>
          <a:blip r:embed="rId3"/>
          <a:stretch>
            <a:fillRect/>
          </a:stretch>
        </p:blipFill>
        <p:spPr>
          <a:xfrm>
            <a:off x="5596128" y="2143775"/>
            <a:ext cx="5662879" cy="3484848"/>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DATA EFFICIENCY CURVE DEMONSTRATING RAPID CLIMB IN MRR AND TOP-1 MATCH ACROSS TRAINING FRACTIONS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BUSINESS IMPACT // COST SIMULATION // REF: BUS_COST_DYN</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Reducing plant downtime and avoiding emergency repair losses</a:t>
            </a:r>
          </a:p>
          <a:p>
            <a:pPr>
              <a:defRPr sz="1000">
                <a:solidFill>
                  <a:srgbClr val="8CB9AA"/>
                </a:solidFill>
                <a:latin typeface="Consolas"/>
              </a:defRPr>
            </a:pPr>
            <a:r>
              <a:t>HOW PROACTIVE INTERVENTIONS SAVED 2.24 MILLION DOLLARS COMPARED TO RUN-TO-FAILURE</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[ECONOMICS-SPEC]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CLOSED-LOOP PLANT ECONOMICS</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$2.24M</a:t>
            </a:r>
          </a:p>
          <a:p>
            <a:pPr>
              <a:defRPr sz="950" b="1">
                <a:solidFill>
                  <a:srgbClr val="D9A45B"/>
                </a:solidFill>
                <a:latin typeface="Consolas"/>
              </a:defRPr>
            </a:pPr>
            <a:r>
              <a:t>NET COST SAVINGS</a:t>
            </a:r>
          </a:p>
        </p:txBody>
      </p:sp>
      <p:sp>
        <p:nvSpPr>
          <p:cNvPr id="34" name="TextBox 33"/>
          <p:cNvSpPr txBox="1"/>
          <p:nvPr/>
        </p:nvSpPr>
        <p:spPr>
          <a:xfrm>
            <a:off x="960120" y="2898648"/>
            <a:ext cx="3931920" cy="3063240"/>
          </a:xfrm>
          <a:prstGeom prst="rect">
            <a:avLst/>
          </a:prstGeom>
          <a:noFill/>
        </p:spPr>
        <p:txBody>
          <a:bodyPr wrap="square" lIns="0" tIns="0" rIns="0" bIns="0">
            <a:spAutoFit/>
          </a:bodyPr>
          <a:lstStyle/>
          <a:p>
            <a:pPr>
              <a:spcAft>
                <a:spcPts val="550"/>
              </a:spcAft>
            </a:pPr>
            <a:r>
              <a:rPr sz="1200" b="1" dirty="0">
                <a:solidFill>
                  <a:srgbClr val="D9A45B"/>
                </a:solidFill>
                <a:latin typeface="Consolas"/>
              </a:rPr>
              <a:t>Downtime Reduction (-79.6%): </a:t>
            </a:r>
            <a:r>
              <a:rPr sz="1150" dirty="0">
                <a:solidFill>
                  <a:srgbClr val="8CB9AA"/>
                </a:solidFill>
                <a:latin typeface="Consolas"/>
              </a:rPr>
              <a:t>Simulated proactive interventions cut fleet downtime from 111.4 hours down to 22.7 hours over 18 operating months.</a:t>
            </a:r>
          </a:p>
          <a:p>
            <a:pPr>
              <a:spcAft>
                <a:spcPts val="550"/>
              </a:spcAft>
            </a:pPr>
            <a:r>
              <a:rPr sz="1200" b="1" dirty="0">
                <a:solidFill>
                  <a:srgbClr val="D9A45B"/>
                </a:solidFill>
                <a:latin typeface="Consolas"/>
              </a:rPr>
              <a:t>Averting Catastrophic Seizure: </a:t>
            </a:r>
            <a:r>
              <a:rPr sz="1150" dirty="0">
                <a:solidFill>
                  <a:srgbClr val="8CB9AA"/>
                </a:solidFill>
                <a:latin typeface="Consolas"/>
              </a:rPr>
              <a:t>Dispatching seal replacement and grease flushes when health dropped below 60 percent reset asset health back to 92 percent.</a:t>
            </a:r>
          </a:p>
          <a:p>
            <a:pPr>
              <a:spcAft>
                <a:spcPts val="550"/>
              </a:spcAft>
            </a:pPr>
            <a:r>
              <a:rPr sz="1200" b="1" dirty="0">
                <a:solidFill>
                  <a:srgbClr val="D9A45B"/>
                </a:solidFill>
                <a:latin typeface="Consolas"/>
              </a:rPr>
              <a:t>87.9% Expense Cut: </a:t>
            </a:r>
            <a:r>
              <a:rPr sz="1150" dirty="0">
                <a:solidFill>
                  <a:srgbClr val="8CB9AA"/>
                </a:solidFill>
                <a:latin typeface="Consolas"/>
              </a:rPr>
              <a:t>Baseline losses dropped from 2.55 million dollars under run-to-failure down to 310 thousand dollars with prescriptive recommendations.</a:t>
            </a:r>
          </a:p>
          <a:p>
            <a:pPr>
              <a:spcAft>
                <a:spcPts val="550"/>
              </a:spcAft>
            </a:pPr>
            <a:r>
              <a:rPr sz="1200" b="1" dirty="0">
                <a:solidFill>
                  <a:srgbClr val="D9A45B"/>
                </a:solidFill>
                <a:latin typeface="Consolas"/>
              </a:rPr>
              <a:t>Fast Payback: </a:t>
            </a:r>
            <a:r>
              <a:rPr sz="1150" dirty="0">
                <a:solidFill>
                  <a:srgbClr val="8CB9AA"/>
                </a:solidFill>
                <a:latin typeface="Consolas"/>
              </a:rPr>
              <a:t>The entire software and hardware setup pays for itself within the first two prevented catastrophic pump seizures.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[COST-PLOT]</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OPERATIONAL COST SENSITIVITY</a:t>
            </a:r>
          </a:p>
        </p:txBody>
      </p:sp>
      <p:sp>
        <p:nvSpPr>
          <p:cNvPr id="47" name="Rectangle 46"/>
          <p:cNvSpPr/>
          <p:nvPr/>
        </p:nvSpPr>
        <p:spPr>
          <a:xfrm>
            <a:off x="5570728" y="2161936"/>
            <a:ext cx="5713679" cy="3448527"/>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15_cost_sensitivity_analysis.png"/>
          <p:cNvPicPr>
            <a:picLocks noChangeAspect="1"/>
          </p:cNvPicPr>
          <p:nvPr/>
        </p:nvPicPr>
        <p:blipFill>
          <a:blip r:embed="rId3"/>
          <a:stretch>
            <a:fillRect/>
          </a:stretch>
        </p:blipFill>
        <p:spPr>
          <a:xfrm>
            <a:off x="5596128" y="2187336"/>
            <a:ext cx="5662879" cy="3397727"/>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OPERATIONAL COSTS ACROSS OPTIMISTIC, BASELINE, AND CONSERVATIVE DOWNTIME PENALTY REGIMES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AUDIT // DATA INTEGRITY // REF: BUS_AUDIT</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Verifying temporal causality and automated test coverage</a:t>
            </a:r>
          </a:p>
          <a:p>
            <a:pPr>
              <a:defRPr sz="1000">
                <a:solidFill>
                  <a:srgbClr val="8CB9AA"/>
                </a:solidFill>
                <a:latin typeface="Consolas"/>
              </a:defRPr>
            </a:pPr>
            <a:r>
              <a:t>14 AUDIT CHECKS AND 21 AUTOMATED PYTEST CASES CERTIFY ZERO LOOKAHEAD LEAKAGE</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175504" cy="31089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7024"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07024"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7024"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07024"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[AUDIT-GUARD]</a:t>
            </a:r>
          </a:p>
        </p:txBody>
      </p:sp>
      <p:sp>
        <p:nvSpPr>
          <p:cNvPr id="32" name="TextBox 31"/>
          <p:cNvSpPr txBox="1"/>
          <p:nvPr/>
        </p:nvSpPr>
        <p:spPr>
          <a:xfrm>
            <a:off x="960120" y="1709928"/>
            <a:ext cx="3712464" cy="274320"/>
          </a:xfrm>
          <a:prstGeom prst="rect">
            <a:avLst/>
          </a:prstGeom>
          <a:noFill/>
        </p:spPr>
        <p:txBody>
          <a:bodyPr wrap="square" lIns="0" tIns="0" rIns="0" bIns="0">
            <a:spAutoFit/>
          </a:bodyPr>
          <a:lstStyle/>
          <a:p>
            <a:pPr>
              <a:defRPr sz="1300" b="1">
                <a:solidFill>
                  <a:srgbClr val="E8C27A"/>
                </a:solidFill>
                <a:latin typeface="Segoe UI"/>
              </a:defRPr>
            </a:pPr>
            <a:r>
              <a:t>14-POINT CAUSAL INTEGRITY AUDIT</a:t>
            </a:r>
          </a:p>
        </p:txBody>
      </p:sp>
      <p:sp>
        <p:nvSpPr>
          <p:cNvPr id="33" name="TextBox 32"/>
          <p:cNvSpPr txBox="1"/>
          <p:nvPr/>
        </p:nvSpPr>
        <p:spPr>
          <a:xfrm>
            <a:off x="960120" y="2075688"/>
            <a:ext cx="4718304" cy="2514600"/>
          </a:xfrm>
          <a:prstGeom prst="rect">
            <a:avLst/>
          </a:prstGeom>
          <a:noFill/>
        </p:spPr>
        <p:txBody>
          <a:bodyPr wrap="square" lIns="0" tIns="0" rIns="0" bIns="0">
            <a:spAutoFit/>
          </a:bodyPr>
          <a:lstStyle/>
          <a:p>
            <a:pPr>
              <a:spcAft>
                <a:spcPts val="550"/>
              </a:spcAft>
            </a:pPr>
            <a:r>
              <a:rPr sz="1200" b="1">
                <a:solidFill>
                  <a:srgbClr val="D9A45B"/>
                </a:solidFill>
                <a:latin typeface="Consolas"/>
              </a:rPr>
              <a:t>Strict Timestamp Checks: </a:t>
            </a:r>
            <a:r>
              <a:rPr sz="1150">
                <a:solidFill>
                  <a:srgbClr val="8CB9AA"/>
                </a:solidFill>
                <a:latin typeface="Consolas"/>
              </a:rPr>
              <a:t>Every rolling sensor window strictly preceded the prediction timestamp. No future data entered feature inputs.</a:t>
            </a:r>
          </a:p>
          <a:p>
            <a:pPr>
              <a:spcAft>
                <a:spcPts val="550"/>
              </a:spcAft>
            </a:pPr>
            <a:r>
              <a:rPr sz="1200" b="1">
                <a:solidFill>
                  <a:srgbClr val="D9A45B"/>
                </a:solidFill>
                <a:latin typeface="Consolas"/>
              </a:rPr>
              <a:t>Feature Quarantine: </a:t>
            </a:r>
            <a:r>
              <a:rPr sz="1150">
                <a:solidFill>
                  <a:srgbClr val="8CB9AA"/>
                </a:solidFill>
                <a:latin typeface="Consolas"/>
              </a:rPr>
              <a:t>Failure labels and work order notes were kept isolated from model inputs.</a:t>
            </a:r>
          </a:p>
          <a:p>
            <a:pPr>
              <a:spcAft>
                <a:spcPts val="550"/>
              </a:spcAft>
            </a:pPr>
            <a:r>
              <a:rPr sz="1200" b="1">
                <a:solidFill>
                  <a:srgbClr val="D9A45B"/>
                </a:solidFill>
                <a:latin typeface="Consolas"/>
              </a:rPr>
              <a:t>Locked Model Hashes: </a:t>
            </a:r>
            <a:r>
              <a:rPr sz="1150">
                <a:solidFill>
                  <a:srgbClr val="8CB9AA"/>
                </a:solidFill>
                <a:latin typeface="Consolas"/>
              </a:rPr>
              <a:t>Phase 4 model weights matched their SHA-256 fingerprints before and after testing.</a:t>
            </a:r>
          </a:p>
          <a:p>
            <a:pPr>
              <a:spcAft>
                <a:spcPts val="550"/>
              </a:spcAft>
            </a:pPr>
            <a:r>
              <a:rPr sz="1200" b="1">
                <a:solidFill>
                  <a:srgbClr val="D9A45B"/>
                </a:solidFill>
                <a:latin typeface="Consolas"/>
              </a:rPr>
              <a:t>Separate Case Memory: </a:t>
            </a:r>
            <a:r>
              <a:rPr sz="1150">
                <a:solidFill>
                  <a:srgbClr val="8CB9AA"/>
                </a:solidFill>
                <a:latin typeface="Consolas"/>
              </a:rPr>
              <a:t>Case retrieval memory contained zero records from external plant test sets.</a:t>
            </a:r>
          </a:p>
          <a:p>
            <a:pPr>
              <a:spcAft>
                <a:spcPts val="550"/>
              </a:spcAft>
            </a:pPr>
            <a:r>
              <a:rPr sz="1200" b="1">
                <a:solidFill>
                  <a:srgbClr val="D9A45B"/>
                </a:solidFill>
                <a:latin typeface="Consolas"/>
              </a:rPr>
              <a:t>Audit Verdict: </a:t>
            </a:r>
            <a:r>
              <a:rPr sz="1150">
                <a:solidFill>
                  <a:srgbClr val="8CB9AA"/>
                </a:solidFill>
                <a:latin typeface="Consolas"/>
              </a:rPr>
              <a:t>All 14 causal integrity checkpoints passed with zero flags.</a:t>
            </a:r>
          </a:p>
        </p:txBody>
      </p:sp>
      <p:sp>
        <p:nvSpPr>
          <p:cNvPr id="34" name="Rectangle 33"/>
          <p:cNvSpPr/>
          <p:nvPr/>
        </p:nvSpPr>
        <p:spPr>
          <a:xfrm>
            <a:off x="6272784" y="1600200"/>
            <a:ext cx="5175504" cy="31089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1184"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48288" y="220294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1184"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48288" y="282473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1184"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48288" y="344652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1184"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448288" y="406831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438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[TEST-SUITE]</a:t>
            </a:r>
          </a:p>
        </p:txBody>
      </p:sp>
      <p:sp>
        <p:nvSpPr>
          <p:cNvPr id="45" name="TextBox 44"/>
          <p:cNvSpPr txBox="1"/>
          <p:nvPr/>
        </p:nvSpPr>
        <p:spPr>
          <a:xfrm>
            <a:off x="6501384" y="1709928"/>
            <a:ext cx="3712464" cy="274320"/>
          </a:xfrm>
          <a:prstGeom prst="rect">
            <a:avLst/>
          </a:prstGeom>
          <a:noFill/>
        </p:spPr>
        <p:txBody>
          <a:bodyPr wrap="square" lIns="0" tIns="0" rIns="0" bIns="0">
            <a:spAutoFit/>
          </a:bodyPr>
          <a:lstStyle/>
          <a:p>
            <a:pPr>
              <a:defRPr sz="1300" b="1">
                <a:solidFill>
                  <a:srgbClr val="E8C27A"/>
                </a:solidFill>
                <a:latin typeface="Segoe UI"/>
              </a:defRPr>
            </a:pPr>
            <a:r>
              <a:t>AUTOMATED TEST SUITE</a:t>
            </a:r>
          </a:p>
        </p:txBody>
      </p:sp>
      <p:sp>
        <p:nvSpPr>
          <p:cNvPr id="46" name="TextBox 45"/>
          <p:cNvSpPr txBox="1"/>
          <p:nvPr/>
        </p:nvSpPr>
        <p:spPr>
          <a:xfrm>
            <a:off x="6501384" y="2075688"/>
            <a:ext cx="4718304" cy="2514600"/>
          </a:xfrm>
          <a:prstGeom prst="rect">
            <a:avLst/>
          </a:prstGeom>
          <a:noFill/>
        </p:spPr>
        <p:txBody>
          <a:bodyPr wrap="square" lIns="0" tIns="0" rIns="0" bIns="0">
            <a:spAutoFit/>
          </a:bodyPr>
          <a:lstStyle/>
          <a:p>
            <a:pPr>
              <a:spcAft>
                <a:spcPts val="550"/>
              </a:spcAft>
            </a:pPr>
            <a:r>
              <a:rPr sz="1200" b="1">
                <a:solidFill>
                  <a:srgbClr val="D9A45B"/>
                </a:solidFill>
                <a:latin typeface="Consolas"/>
              </a:rPr>
              <a:t>Comprehensive Test Suite: </a:t>
            </a:r>
            <a:r>
              <a:rPr sz="1150">
                <a:solidFill>
                  <a:srgbClr val="8CB9AA"/>
                </a:solidFill>
                <a:latin typeface="Consolas"/>
              </a:rPr>
              <a:t>Unit and integration tests covering data pipelines, metrics, and models in tests/test_phase5_external_validation.py.</a:t>
            </a:r>
          </a:p>
          <a:p>
            <a:pPr>
              <a:spcAft>
                <a:spcPts val="550"/>
              </a:spcAft>
            </a:pPr>
            <a:r>
              <a:rPr sz="1200" b="1">
                <a:solidFill>
                  <a:srgbClr val="D9A45B"/>
                </a:solidFill>
                <a:latin typeface="Consolas"/>
              </a:rPr>
              <a:t>Metric Math Checks: </a:t>
            </a:r>
            <a:r>
              <a:rPr sz="1150">
                <a:solidFill>
                  <a:srgbClr val="8CB9AA"/>
                </a:solidFill>
                <a:latin typeface="Consolas"/>
              </a:rPr>
              <a:t>Verified calculations for exact match, mean rank, and hierarchical agreement.</a:t>
            </a:r>
          </a:p>
          <a:p>
            <a:pPr>
              <a:spcAft>
                <a:spcPts val="550"/>
              </a:spcAft>
            </a:pPr>
            <a:r>
              <a:rPr sz="1200" b="1">
                <a:solidFill>
                  <a:srgbClr val="D9A45B"/>
                </a:solidFill>
                <a:latin typeface="Consolas"/>
              </a:rPr>
              <a:t>Screening Gate Tests: </a:t>
            </a:r>
            <a:r>
              <a:rPr sz="1150">
                <a:solidFill>
                  <a:srgbClr val="8CB9AA"/>
                </a:solidFill>
                <a:latin typeface="Consolas"/>
              </a:rPr>
              <a:t>Verified automated disqualification of synthetic benchmarks like Azure PM.</a:t>
            </a:r>
          </a:p>
          <a:p>
            <a:pPr>
              <a:spcAft>
                <a:spcPts val="550"/>
              </a:spcAft>
            </a:pPr>
            <a:r>
              <a:rPr sz="1200" b="1">
                <a:solidFill>
                  <a:srgbClr val="D9A45B"/>
                </a:solidFill>
                <a:latin typeface="Consolas"/>
              </a:rPr>
              <a:t>Pytest Results: </a:t>
            </a:r>
            <a:r>
              <a:rPr sz="1150">
                <a:solidFill>
                  <a:srgbClr val="8CB9AA"/>
                </a:solidFill>
                <a:latin typeface="Consolas"/>
              </a:rPr>
              <a:t>All 21 automated test cases pass with a 100 percent success rate.</a:t>
            </a:r>
          </a:p>
        </p:txBody>
      </p:sp>
      <p:sp>
        <p:nvSpPr>
          <p:cNvPr id="47" name="Rectangle 46"/>
          <p:cNvSpPr/>
          <p:nvPr/>
        </p:nvSpPr>
        <p:spPr>
          <a:xfrm>
            <a:off x="731520"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9920"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059936"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629920"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059936"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629920"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059936"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33120"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34056"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REG_01</a:t>
            </a:r>
          </a:p>
        </p:txBody>
      </p:sp>
      <p:sp>
        <p:nvSpPr>
          <p:cNvPr id="56" name="TextBox 55"/>
          <p:cNvSpPr txBox="1"/>
          <p:nvPr/>
        </p:nvSpPr>
        <p:spPr>
          <a:xfrm>
            <a:off x="896112" y="5047488"/>
            <a:ext cx="2999232" cy="969264"/>
          </a:xfrm>
          <a:prstGeom prst="rect">
            <a:avLst/>
          </a:prstGeom>
          <a:noFill/>
        </p:spPr>
        <p:txBody>
          <a:bodyPr wrap="square" lIns="0" tIns="0" rIns="0" bIns="0">
            <a:spAutoFit/>
          </a:bodyPr>
          <a:lstStyle/>
          <a:p>
            <a:pPr>
              <a:defRPr sz="1000" b="1">
                <a:solidFill>
                  <a:srgbClr val="8CB9AA"/>
                </a:solidFill>
                <a:latin typeface="Consolas"/>
              </a:defRPr>
            </a:pPr>
            <a:r>
              <a:t>CAUSAL INTEGRITY</a:t>
            </a:r>
          </a:p>
          <a:p>
            <a:pPr>
              <a:defRPr sz="2200" b="1">
                <a:solidFill>
                  <a:srgbClr val="E8C27A"/>
                </a:solidFill>
                <a:latin typeface="Segoe UI"/>
              </a:defRPr>
            </a:pPr>
            <a:r>
              <a:t>14 / 14 PASSED</a:t>
            </a:r>
          </a:p>
          <a:p>
            <a:pPr>
              <a:defRPr sz="950">
                <a:solidFill>
                  <a:srgbClr val="D9A45B"/>
                </a:solidFill>
                <a:latin typeface="Consolas"/>
              </a:defRPr>
            </a:pPr>
            <a:r>
              <a:t>Zero lookahead leakage</a:t>
            </a:r>
          </a:p>
        </p:txBody>
      </p:sp>
      <p:sp>
        <p:nvSpPr>
          <p:cNvPr id="57" name="Rectangle 56"/>
          <p:cNvSpPr/>
          <p:nvPr/>
        </p:nvSpPr>
        <p:spPr>
          <a:xfrm>
            <a:off x="4425696"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324096"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7754112"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324096"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754112"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324096"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7754112"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4527296"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428232"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REG_02</a:t>
            </a:r>
          </a:p>
        </p:txBody>
      </p:sp>
      <p:sp>
        <p:nvSpPr>
          <p:cNvPr id="66" name="TextBox 65"/>
          <p:cNvSpPr txBox="1"/>
          <p:nvPr/>
        </p:nvSpPr>
        <p:spPr>
          <a:xfrm>
            <a:off x="4590288" y="5047488"/>
            <a:ext cx="2999232" cy="969264"/>
          </a:xfrm>
          <a:prstGeom prst="rect">
            <a:avLst/>
          </a:prstGeom>
          <a:noFill/>
        </p:spPr>
        <p:txBody>
          <a:bodyPr wrap="square" lIns="0" tIns="0" rIns="0" bIns="0">
            <a:spAutoFit/>
          </a:bodyPr>
          <a:lstStyle/>
          <a:p>
            <a:pPr>
              <a:defRPr sz="1000" b="1">
                <a:solidFill>
                  <a:srgbClr val="8CB9AA"/>
                </a:solidFill>
                <a:latin typeface="Consolas"/>
              </a:defRPr>
            </a:pPr>
            <a:r>
              <a:t>AUTOMATED TESTS</a:t>
            </a:r>
          </a:p>
          <a:p>
            <a:pPr>
              <a:defRPr sz="2200" b="1">
                <a:solidFill>
                  <a:srgbClr val="E8C27A"/>
                </a:solidFill>
                <a:latin typeface="Segoe UI"/>
              </a:defRPr>
            </a:pPr>
            <a:r>
              <a:t>21 / 21 PASSING</a:t>
            </a:r>
          </a:p>
          <a:p>
            <a:pPr>
              <a:defRPr sz="950">
                <a:solidFill>
                  <a:srgbClr val="D9A45B"/>
                </a:solidFill>
                <a:latin typeface="Consolas"/>
              </a:defRPr>
            </a:pPr>
            <a:r>
              <a:t>100% pytest pass rate</a:t>
            </a:r>
          </a:p>
        </p:txBody>
      </p:sp>
      <p:sp>
        <p:nvSpPr>
          <p:cNvPr id="67" name="Rectangle 66"/>
          <p:cNvSpPr/>
          <p:nvPr/>
        </p:nvSpPr>
        <p:spPr>
          <a:xfrm>
            <a:off x="8119872" y="4937760"/>
            <a:ext cx="3328416" cy="118872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8018272"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11448288" y="521589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018272"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448288" y="551307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8018272"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1448288" y="5810250"/>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8221472" y="503936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122408" y="4988560"/>
            <a:ext cx="1188720" cy="228600"/>
          </a:xfrm>
          <a:prstGeom prst="rect">
            <a:avLst/>
          </a:prstGeom>
          <a:noFill/>
        </p:spPr>
        <p:txBody>
          <a:bodyPr wrap="none" lIns="0" tIns="0" rIns="0" bIns="0">
            <a:spAutoFit/>
          </a:bodyPr>
          <a:lstStyle/>
          <a:p>
            <a:pPr algn="r">
              <a:defRPr sz="1000" b="1">
                <a:solidFill>
                  <a:srgbClr val="D9A45B"/>
                </a:solidFill>
                <a:latin typeface="Consolas"/>
              </a:defRPr>
            </a:pPr>
            <a:r>
              <a:t>REG_03</a:t>
            </a:r>
          </a:p>
        </p:txBody>
      </p:sp>
      <p:sp>
        <p:nvSpPr>
          <p:cNvPr id="76" name="TextBox 75"/>
          <p:cNvSpPr txBox="1"/>
          <p:nvPr/>
        </p:nvSpPr>
        <p:spPr>
          <a:xfrm>
            <a:off x="8284464" y="5047488"/>
            <a:ext cx="2999232" cy="969264"/>
          </a:xfrm>
          <a:prstGeom prst="rect">
            <a:avLst/>
          </a:prstGeom>
          <a:noFill/>
        </p:spPr>
        <p:txBody>
          <a:bodyPr wrap="square" lIns="0" tIns="0" rIns="0" bIns="0">
            <a:spAutoFit/>
          </a:bodyPr>
          <a:lstStyle/>
          <a:p>
            <a:pPr>
              <a:defRPr sz="1000" b="1">
                <a:solidFill>
                  <a:srgbClr val="8CB9AA"/>
                </a:solidFill>
                <a:latin typeface="Consolas"/>
              </a:defRPr>
            </a:pPr>
            <a:r>
              <a:t>MODEL HASHES</a:t>
            </a:r>
          </a:p>
          <a:p>
            <a:pPr>
              <a:defRPr sz="2200" b="1">
                <a:solidFill>
                  <a:srgbClr val="E8C27A"/>
                </a:solidFill>
                <a:latin typeface="Segoe UI"/>
              </a:defRPr>
            </a:pPr>
            <a:r>
              <a:t>VERIFIED MATCH</a:t>
            </a:r>
          </a:p>
          <a:p>
            <a:pPr>
              <a:defRPr sz="950">
                <a:solidFill>
                  <a:srgbClr val="D9A45B"/>
                </a:solidFill>
                <a:latin typeface="Consolas"/>
              </a:defRPr>
            </a:pPr>
            <a:r>
              <a:t>Cryptographically frozen</a:t>
            </a:r>
          </a:p>
        </p:txBody>
      </p:sp>
      <p:cxnSp>
        <p:nvCxnSpPr>
          <p:cNvPr id="77" name="Connector 76"/>
          <p:cNvCxnSpPr/>
          <p:nvPr/>
        </p:nvCxnSpPr>
        <p:spPr>
          <a:xfrm>
            <a:off x="2281428"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78" name="Oval 77"/>
          <p:cNvSpPr/>
          <p:nvPr/>
        </p:nvSpPr>
        <p:spPr>
          <a:xfrm>
            <a:off x="2319528"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357628"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319528"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357628"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2" name="Connector 81"/>
          <p:cNvCxnSpPr/>
          <p:nvPr/>
        </p:nvCxnSpPr>
        <p:spPr>
          <a:xfrm>
            <a:off x="5975604"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6013704"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6051804"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6013704"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6051804"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7" name="Connector 86"/>
          <p:cNvCxnSpPr/>
          <p:nvPr/>
        </p:nvCxnSpPr>
        <p:spPr>
          <a:xfrm>
            <a:off x="9669780" y="4709160"/>
            <a:ext cx="228600" cy="22860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88" name="Oval 87"/>
          <p:cNvSpPr/>
          <p:nvPr/>
        </p:nvSpPr>
        <p:spPr>
          <a:xfrm>
            <a:off x="9707880" y="46329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9745980" y="46710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9707880" y="486156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9745980" y="489966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EVALUATION // SCOPE BOUNDARIES // REF: BUS_BOUNDS</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Demonstrated capabilities and practical operational boundaries</a:t>
            </a:r>
          </a:p>
          <a:p>
            <a:pPr>
              <a:defRPr sz="1000">
                <a:solidFill>
                  <a:srgbClr val="8CB9AA"/>
                </a:solidFill>
                <a:latin typeface="Consolas"/>
              </a:defRPr>
            </a:pPr>
            <a:r>
              <a:t>CLEAR DISTINCTION BETWEEN TESTED REALITIES AND SITUATIONS REQUIRING HUMAN OVERSIGHT</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90702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0702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90702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0702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81144"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[PROVEN]</a:t>
            </a:r>
          </a:p>
        </p:txBody>
      </p:sp>
      <p:sp>
        <p:nvSpPr>
          <p:cNvPr id="32" name="TextBox 31"/>
          <p:cNvSpPr txBox="1"/>
          <p:nvPr/>
        </p:nvSpPr>
        <p:spPr>
          <a:xfrm>
            <a:off x="960120" y="1709928"/>
            <a:ext cx="3712464" cy="274320"/>
          </a:xfrm>
          <a:prstGeom prst="rect">
            <a:avLst/>
          </a:prstGeom>
          <a:noFill/>
        </p:spPr>
        <p:txBody>
          <a:bodyPr wrap="square" lIns="0" tIns="0" rIns="0" bIns="0">
            <a:spAutoFit/>
          </a:bodyPr>
          <a:lstStyle/>
          <a:p>
            <a:pPr>
              <a:defRPr sz="1300" b="1">
                <a:solidFill>
                  <a:srgbClr val="E8C27A"/>
                </a:solidFill>
                <a:latin typeface="Segoe UI"/>
              </a:defRPr>
            </a:pPr>
            <a:r>
              <a:t>WHAT WE DEMONSTRATED</a:t>
            </a:r>
          </a:p>
        </p:txBody>
      </p:sp>
      <p:sp>
        <p:nvSpPr>
          <p:cNvPr id="33" name="TextBox 32"/>
          <p:cNvSpPr txBox="1"/>
          <p:nvPr/>
        </p:nvSpPr>
        <p:spPr>
          <a:xfrm>
            <a:off x="960120"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Cross-Asset Transfer: </a:t>
            </a:r>
            <a:r>
              <a:rPr sz="1150">
                <a:solidFill>
                  <a:srgbClr val="8CB9AA"/>
                </a:solidFill>
                <a:latin typeface="Consolas"/>
              </a:rPr>
              <a:t>Models trained on mixed sensor benchmarks successfully recommended actions on unseen slurry pumps, beating standard rules by 45 percent.</a:t>
            </a:r>
          </a:p>
          <a:p>
            <a:pPr>
              <a:spcAft>
                <a:spcPts val="550"/>
              </a:spcAft>
            </a:pPr>
            <a:r>
              <a:rPr sz="1200" b="1">
                <a:solidFill>
                  <a:srgbClr val="D9A45B"/>
                </a:solidFill>
                <a:latin typeface="Consolas"/>
              </a:rPr>
              <a:t>Prudent Asset Management: </a:t>
            </a:r>
            <a:r>
              <a:rPr sz="1150">
                <a:solidFill>
                  <a:srgbClr val="8CB9AA"/>
                </a:solidFill>
                <a:latin typeface="Consolas"/>
              </a:rPr>
              <a:t>The system correctly refused full calendar teardowns on healthy rotating equipment, recommending low-cost vibration monitoring.</a:t>
            </a:r>
          </a:p>
          <a:p>
            <a:pPr>
              <a:spcAft>
                <a:spcPts val="550"/>
              </a:spcAft>
            </a:pPr>
            <a:r>
              <a:rPr sz="1200" b="1">
                <a:solidFill>
                  <a:srgbClr val="D9A45B"/>
                </a:solidFill>
                <a:latin typeface="Consolas"/>
              </a:rPr>
              <a:t>Actionable Early Warning: </a:t>
            </a:r>
            <a:r>
              <a:rPr sz="1150">
                <a:solidFill>
                  <a:srgbClr val="8CB9AA"/>
                </a:solidFill>
                <a:latin typeface="Consolas"/>
              </a:rPr>
              <a:t>Anticipated 95.7 percent of pump breakdowns within a 48-hour window with median lead times between 0.4 and 6.0 hours.</a:t>
            </a:r>
          </a:p>
          <a:p>
            <a:pPr>
              <a:spcAft>
                <a:spcPts val="550"/>
              </a:spcAft>
            </a:pPr>
            <a:r>
              <a:rPr sz="1200" b="1">
                <a:solidFill>
                  <a:srgbClr val="D9A45B"/>
                </a:solidFill>
                <a:latin typeface="Consolas"/>
              </a:rPr>
              <a:t>Quick Plant Tuning: </a:t>
            </a:r>
            <a:r>
              <a:rPr sz="1150">
                <a:solidFill>
                  <a:srgbClr val="8CB9AA"/>
                </a:solidFill>
                <a:latin typeface="Consolas"/>
              </a:rPr>
              <a:t>Action frequency adaptation doubled top-3 recall on untouched future events using only a small set of early records.</a:t>
            </a:r>
          </a:p>
        </p:txBody>
      </p:sp>
      <p:sp>
        <p:nvSpPr>
          <p:cNvPr id="34" name="Rectangle 33"/>
          <p:cNvSpPr/>
          <p:nvPr/>
        </p:nvSpPr>
        <p:spPr>
          <a:xfrm>
            <a:off x="6272784" y="1600200"/>
            <a:ext cx="5175504"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71184"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1448288"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71184"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1448288"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71184"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1448288"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171184"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1448288"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374384"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[BOUNDS]</a:t>
            </a:r>
          </a:p>
        </p:txBody>
      </p:sp>
      <p:sp>
        <p:nvSpPr>
          <p:cNvPr id="45" name="TextBox 44"/>
          <p:cNvSpPr txBox="1"/>
          <p:nvPr/>
        </p:nvSpPr>
        <p:spPr>
          <a:xfrm>
            <a:off x="6501384" y="1709928"/>
            <a:ext cx="3712464" cy="274320"/>
          </a:xfrm>
          <a:prstGeom prst="rect">
            <a:avLst/>
          </a:prstGeom>
          <a:noFill/>
        </p:spPr>
        <p:txBody>
          <a:bodyPr wrap="square" lIns="0" tIns="0" rIns="0" bIns="0">
            <a:spAutoFit/>
          </a:bodyPr>
          <a:lstStyle/>
          <a:p>
            <a:pPr>
              <a:defRPr sz="1300" b="1">
                <a:solidFill>
                  <a:srgbClr val="E8C27A"/>
                </a:solidFill>
                <a:latin typeface="Segoe UI"/>
              </a:defRPr>
            </a:pPr>
            <a:r>
              <a:t>PRACTICAL BOUNDARIES</a:t>
            </a:r>
          </a:p>
        </p:txBody>
      </p:sp>
      <p:sp>
        <p:nvSpPr>
          <p:cNvPr id="46" name="TextBox 45"/>
          <p:cNvSpPr txBox="1"/>
          <p:nvPr/>
        </p:nvSpPr>
        <p:spPr>
          <a:xfrm>
            <a:off x="6501384" y="2075688"/>
            <a:ext cx="4718304"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Not Fully Unattended: </a:t>
            </a:r>
            <a:r>
              <a:rPr sz="1150">
                <a:solidFill>
                  <a:srgbClr val="8CB9AA"/>
                </a:solidFill>
                <a:latin typeface="Consolas"/>
              </a:rPr>
              <a:t>We do not recommend fully automated dispatch without technician oversight. Edge cases should always route to human engineers.</a:t>
            </a:r>
          </a:p>
          <a:p>
            <a:pPr>
              <a:spcAft>
                <a:spcPts val="550"/>
              </a:spcAft>
            </a:pPr>
            <a:r>
              <a:rPr sz="1200" b="1">
                <a:solidFill>
                  <a:srgbClr val="D9A45B"/>
                </a:solidFill>
                <a:latin typeface="Consolas"/>
              </a:rPr>
              <a:t>Fluid Power Excluded: </a:t>
            </a:r>
            <a:r>
              <a:rPr sz="1150">
                <a:solidFill>
                  <a:srgbClr val="8CB9AA"/>
                </a:solidFill>
                <a:latin typeface="Consolas"/>
              </a:rPr>
              <a:t>Our tests focused on rotating machinery, pumps, and compressors. Hydraulic fluid power loops require dedicated calibration.</a:t>
            </a:r>
          </a:p>
          <a:p>
            <a:pPr>
              <a:spcAft>
                <a:spcPts val="550"/>
              </a:spcAft>
            </a:pPr>
            <a:r>
              <a:rPr sz="1200" b="1">
                <a:solidFill>
                  <a:srgbClr val="D9A45B"/>
                </a:solidFill>
                <a:latin typeface="Consolas"/>
              </a:rPr>
              <a:t>Plant-Specific Base Rates: </a:t>
            </a:r>
            <a:r>
              <a:rPr sz="1150">
                <a:solidFill>
                  <a:srgbClr val="8CB9AA"/>
                </a:solidFill>
                <a:latin typeface="Consolas"/>
              </a:rPr>
              <a:t>While zero-shot transfer works, calibrating base rates with early plant records is strongly advised for best performance.</a:t>
            </a:r>
          </a:p>
        </p:txBody>
      </p:sp>
      <p:cxnSp>
        <p:nvCxnSpPr>
          <p:cNvPr id="47" name="Connector 46"/>
          <p:cNvCxnSpPr/>
          <p:nvPr/>
        </p:nvCxnSpPr>
        <p:spPr>
          <a:xfrm>
            <a:off x="5907024" y="365760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5830824"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868924"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196584" y="358140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6234684" y="361950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SUMMARY // ROADMAP // REF: BUS_ROADMAP</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Project contributions and roadmap for journal submission</a:t>
            </a:r>
          </a:p>
          <a:p>
            <a:pPr>
              <a:defRPr sz="1000">
                <a:solidFill>
                  <a:srgbClr val="8CB9AA"/>
                </a:solidFill>
                <a:latin typeface="Consolas"/>
              </a:defRPr>
            </a:pPr>
            <a:r>
              <a:t>FINAL ARTIFACTS COMPLETED AND READY FOR IEEE TRANSACTIONS SUBMISSION</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4389120"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12064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12064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12064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12064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794760"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[CONTRIBUTION-SPEC]</a:t>
            </a:r>
          </a:p>
        </p:txBody>
      </p:sp>
      <p:sp>
        <p:nvSpPr>
          <p:cNvPr id="32" name="TextBox 31"/>
          <p:cNvSpPr txBox="1"/>
          <p:nvPr/>
        </p:nvSpPr>
        <p:spPr>
          <a:xfrm>
            <a:off x="960120" y="1709928"/>
            <a:ext cx="2926080" cy="274320"/>
          </a:xfrm>
          <a:prstGeom prst="rect">
            <a:avLst/>
          </a:prstGeom>
          <a:noFill/>
        </p:spPr>
        <p:txBody>
          <a:bodyPr wrap="square" lIns="0" tIns="0" rIns="0" bIns="0">
            <a:spAutoFit/>
          </a:bodyPr>
          <a:lstStyle/>
          <a:p>
            <a:pPr>
              <a:defRPr sz="1300" b="1">
                <a:solidFill>
                  <a:srgbClr val="E8C27A"/>
                </a:solidFill>
                <a:latin typeface="Segoe UI"/>
              </a:defRPr>
            </a:pPr>
            <a:r>
              <a:t>PROJECT CONTRIBUTIONS</a:t>
            </a:r>
          </a:p>
        </p:txBody>
      </p:sp>
      <p:sp>
        <p:nvSpPr>
          <p:cNvPr id="33" name="TextBox 32"/>
          <p:cNvSpPr txBox="1"/>
          <p:nvPr/>
        </p:nvSpPr>
        <p:spPr>
          <a:xfrm>
            <a:off x="960120" y="2075688"/>
            <a:ext cx="3931920" cy="777240"/>
          </a:xfrm>
          <a:prstGeom prst="rect">
            <a:avLst/>
          </a:prstGeom>
          <a:noFill/>
        </p:spPr>
        <p:txBody>
          <a:bodyPr wrap="square" lIns="0" tIns="0" rIns="0" bIns="0">
            <a:spAutoFit/>
          </a:bodyPr>
          <a:lstStyle/>
          <a:p>
            <a:pPr>
              <a:defRPr sz="2200" b="1">
                <a:solidFill>
                  <a:srgbClr val="E8C27A"/>
                </a:solidFill>
                <a:latin typeface="Segoe UI"/>
              </a:defRPr>
            </a:pPr>
            <a:r>
              <a:t>26 SECTIONS</a:t>
            </a:r>
          </a:p>
          <a:p>
            <a:pPr>
              <a:defRPr sz="950" b="1">
                <a:solidFill>
                  <a:srgbClr val="D9A45B"/>
                </a:solidFill>
                <a:latin typeface="Consolas"/>
              </a:defRPr>
            </a:pPr>
            <a:r>
              <a:t>16 FIGURES</a:t>
            </a:r>
          </a:p>
        </p:txBody>
      </p:sp>
      <p:sp>
        <p:nvSpPr>
          <p:cNvPr id="34" name="TextBox 33"/>
          <p:cNvSpPr txBox="1"/>
          <p:nvPr/>
        </p:nvSpPr>
        <p:spPr>
          <a:xfrm>
            <a:off x="960120" y="2898648"/>
            <a:ext cx="3931920" cy="2123658"/>
          </a:xfrm>
          <a:prstGeom prst="rect">
            <a:avLst/>
          </a:prstGeom>
          <a:noFill/>
        </p:spPr>
        <p:txBody>
          <a:bodyPr wrap="square" lIns="0" tIns="0" rIns="0" bIns="0">
            <a:spAutoFit/>
          </a:bodyPr>
          <a:lstStyle/>
          <a:p>
            <a:pPr>
              <a:spcAft>
                <a:spcPts val="550"/>
              </a:spcAft>
            </a:pPr>
            <a:r>
              <a:rPr sz="1200" b="1" dirty="0">
                <a:solidFill>
                  <a:srgbClr val="D9A45B"/>
                </a:solidFill>
                <a:latin typeface="Consolas"/>
              </a:rPr>
              <a:t>Complete Ingestion-to-Action Pipeline: </a:t>
            </a:r>
            <a:r>
              <a:rPr sz="1150" dirty="0">
                <a:solidFill>
                  <a:srgbClr val="8CB9AA"/>
                </a:solidFill>
                <a:latin typeface="Consolas"/>
              </a:rPr>
              <a:t>Built an automated workflow converting heterogeneous sensor streams into prioritized, feasible repair orders.</a:t>
            </a:r>
          </a:p>
          <a:p>
            <a:pPr>
              <a:spcAft>
                <a:spcPts val="550"/>
              </a:spcAft>
            </a:pPr>
            <a:r>
              <a:rPr sz="1200" b="1" dirty="0">
                <a:solidFill>
                  <a:srgbClr val="D9A45B"/>
                </a:solidFill>
                <a:latin typeface="Consolas"/>
              </a:rPr>
              <a:t>Realistic Plant Validation: </a:t>
            </a:r>
            <a:r>
              <a:rPr sz="1150" dirty="0">
                <a:solidFill>
                  <a:srgbClr val="8CB9AA"/>
                </a:solidFill>
                <a:latin typeface="Consolas"/>
              </a:rPr>
              <a:t>Benchmarked models on real factory slurry pumps rather than relying solely on synthetic failure generators.</a:t>
            </a:r>
          </a:p>
          <a:p>
            <a:pPr>
              <a:spcAft>
                <a:spcPts val="550"/>
              </a:spcAft>
            </a:pPr>
            <a:r>
              <a:rPr sz="1200" b="1" dirty="0">
                <a:solidFill>
                  <a:srgbClr val="D9A45B"/>
                </a:solidFill>
                <a:latin typeface="Consolas"/>
              </a:rPr>
              <a:t>Fast Adaptation Method: </a:t>
            </a:r>
            <a:r>
              <a:rPr sz="1150" dirty="0">
                <a:solidFill>
                  <a:srgbClr val="8CB9AA"/>
                </a:solidFill>
                <a:latin typeface="Consolas"/>
              </a:rPr>
              <a:t>Created a lightweight action prior update that doubles top-3 repair coverage without retraining heavy decision trees.</a:t>
            </a:r>
          </a:p>
        </p:txBody>
      </p:sp>
      <p:sp>
        <p:nvSpPr>
          <p:cNvPr id="35" name="Rectangle 34"/>
          <p:cNvSpPr/>
          <p:nvPr/>
        </p:nvSpPr>
        <p:spPr>
          <a:xfrm>
            <a:off x="5394960" y="1600200"/>
            <a:ext cx="6065215"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29336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460175"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29336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60175"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29336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60175"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29336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11460175"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549656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34295"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DISP_01 [RADAR-PLOT]</a:t>
            </a:r>
          </a:p>
        </p:txBody>
      </p:sp>
      <p:sp>
        <p:nvSpPr>
          <p:cNvPr id="46" name="TextBox 45"/>
          <p:cNvSpPr txBox="1"/>
          <p:nvPr/>
        </p:nvSpPr>
        <p:spPr>
          <a:xfrm>
            <a:off x="5623560" y="1709928"/>
            <a:ext cx="4602175" cy="274320"/>
          </a:xfrm>
          <a:prstGeom prst="rect">
            <a:avLst/>
          </a:prstGeom>
          <a:noFill/>
        </p:spPr>
        <p:txBody>
          <a:bodyPr wrap="square" lIns="0" tIns="0" rIns="0" bIns="0">
            <a:spAutoFit/>
          </a:bodyPr>
          <a:lstStyle/>
          <a:p>
            <a:pPr>
              <a:defRPr sz="1300" b="1">
                <a:solidFill>
                  <a:srgbClr val="E8C27A"/>
                </a:solidFill>
                <a:latin typeface="Segoe UI"/>
              </a:defRPr>
            </a:pPr>
            <a:r>
              <a:t>PRESCRIPTIVE SYSTEM CAPABILITY RADAR</a:t>
            </a:r>
          </a:p>
        </p:txBody>
      </p:sp>
      <p:sp>
        <p:nvSpPr>
          <p:cNvPr id="47" name="Rectangle 46"/>
          <p:cNvSpPr/>
          <p:nvPr/>
        </p:nvSpPr>
        <p:spPr>
          <a:xfrm>
            <a:off x="6487413" y="2050288"/>
            <a:ext cx="3880307" cy="3671824"/>
          </a:xfrm>
          <a:prstGeom prst="rect">
            <a:avLst/>
          </a:prstGeom>
          <a:solidFill>
            <a:srgbClr val="FFFFFF"/>
          </a:solidFill>
          <a:ln w="1905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fig16_comprehensive_radar_summary.png"/>
          <p:cNvPicPr>
            <a:picLocks noChangeAspect="1"/>
          </p:cNvPicPr>
          <p:nvPr/>
        </p:nvPicPr>
        <p:blipFill>
          <a:blip r:embed="rId3"/>
          <a:stretch>
            <a:fillRect/>
          </a:stretch>
        </p:blipFill>
        <p:spPr>
          <a:xfrm>
            <a:off x="6512813" y="2075688"/>
            <a:ext cx="3829507" cy="3621024"/>
          </a:xfrm>
          <a:prstGeom prst="rect">
            <a:avLst/>
          </a:prstGeom>
        </p:spPr>
      </p:pic>
      <p:sp>
        <p:nvSpPr>
          <p:cNvPr id="49" name="TextBox 48"/>
          <p:cNvSpPr txBox="1"/>
          <p:nvPr/>
        </p:nvSpPr>
        <p:spPr>
          <a:xfrm>
            <a:off x="5596128" y="5733288"/>
            <a:ext cx="5662879" cy="274320"/>
          </a:xfrm>
          <a:prstGeom prst="rect">
            <a:avLst/>
          </a:prstGeom>
          <a:noFill/>
        </p:spPr>
        <p:txBody>
          <a:bodyPr wrap="square" lIns="0" tIns="0" rIns="0" bIns="0">
            <a:spAutoFit/>
          </a:bodyPr>
          <a:lstStyle/>
          <a:p>
            <a:pPr>
              <a:defRPr sz="950">
                <a:solidFill>
                  <a:srgbClr val="8CB9AA"/>
                </a:solidFill>
                <a:latin typeface="Consolas"/>
              </a:defRPr>
            </a:pPr>
            <a:r>
              <a:t>MULTI-DIMENSIONAL CAPABILITY COMPARISON BETWEEN FROZEN ZERO-SHOT AND ADAPTED HYBRID CONFIGURATIONS</a:t>
            </a:r>
          </a:p>
        </p:txBody>
      </p:sp>
      <p:cxnSp>
        <p:nvCxnSpPr>
          <p:cNvPr id="50" name="Connector 49"/>
          <p:cNvCxnSpPr/>
          <p:nvPr/>
        </p:nvCxnSpPr>
        <p:spPr>
          <a:xfrm>
            <a:off x="5120640" y="3840480"/>
            <a:ext cx="27432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504444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508254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5318760" y="376428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356860" y="380238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0210"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1673535" y="36576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717985" y="41021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410210"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673535" y="6339840"/>
            <a:ext cx="152400" cy="1524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1717985" y="6384290"/>
            <a:ext cx="63500" cy="635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65760"/>
            <a:ext cx="7315200" cy="228600"/>
          </a:xfrm>
          <a:prstGeom prst="rect">
            <a:avLst/>
          </a:prstGeom>
          <a:noFill/>
        </p:spPr>
        <p:txBody>
          <a:bodyPr wrap="none" lIns="0" tIns="0" rIns="0" bIns="0">
            <a:spAutoFit/>
          </a:bodyPr>
          <a:lstStyle/>
          <a:p>
            <a:pPr>
              <a:defRPr sz="1000" b="1">
                <a:solidFill>
                  <a:srgbClr val="D9A45B"/>
                </a:solidFill>
                <a:latin typeface="Consolas"/>
              </a:defRPr>
            </a:pPr>
            <a:r>
              <a:t>// DISCUSSION // COMMITTEE QUESTIONS // REF: BUS_QA</a:t>
            </a:r>
          </a:p>
        </p:txBody>
      </p:sp>
      <p:sp>
        <p:nvSpPr>
          <p:cNvPr id="12" name="TextBox 11"/>
          <p:cNvSpPr txBox="1"/>
          <p:nvPr/>
        </p:nvSpPr>
        <p:spPr>
          <a:xfrm>
            <a:off x="731520" y="621792"/>
            <a:ext cx="10698480" cy="594360"/>
          </a:xfrm>
          <a:prstGeom prst="rect">
            <a:avLst/>
          </a:prstGeom>
          <a:noFill/>
        </p:spPr>
        <p:txBody>
          <a:bodyPr wrap="square" lIns="0" tIns="0" rIns="0" bIns="0">
            <a:spAutoFit/>
          </a:bodyPr>
          <a:lstStyle/>
          <a:p>
            <a:pPr>
              <a:defRPr sz="2100" b="1">
                <a:solidFill>
                  <a:srgbClr val="FFFFFF"/>
                </a:solidFill>
                <a:latin typeface="Segoe UI"/>
              </a:defRPr>
            </a:pPr>
            <a:r>
              <a:t>Key technical discussion points and common questions</a:t>
            </a:r>
          </a:p>
          <a:p>
            <a:pPr>
              <a:defRPr sz="1000">
                <a:solidFill>
                  <a:srgbClr val="8CB9AA"/>
                </a:solidFill>
                <a:latin typeface="Consolas"/>
              </a:defRPr>
            </a:pPr>
            <a:r>
              <a:t>PRACTICAL ANSWERS ON MODEL CHOICES, DATA QUALITY, AND RELIABILITY</a:t>
            </a:r>
          </a:p>
        </p:txBody>
      </p:sp>
      <p:cxnSp>
        <p:nvCxnSpPr>
          <p:cNvPr id="13" name="Connector 12"/>
          <p:cNvCxnSpPr/>
          <p:nvPr/>
        </p:nvCxnSpPr>
        <p:spPr>
          <a:xfrm>
            <a:off x="731520" y="1298448"/>
            <a:ext cx="1069848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5532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9342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353800" y="1222248"/>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391900" y="1260348"/>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42416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TP1_GND</a:t>
            </a:r>
          </a:p>
        </p:txBody>
      </p:sp>
      <p:sp>
        <p:nvSpPr>
          <p:cNvPr id="19" name="TextBox 18"/>
          <p:cNvSpPr txBox="1"/>
          <p:nvPr/>
        </p:nvSpPr>
        <p:spPr>
          <a:xfrm>
            <a:off x="11155680" y="384048"/>
            <a:ext cx="640080" cy="228600"/>
          </a:xfrm>
          <a:prstGeom prst="rect">
            <a:avLst/>
          </a:prstGeom>
          <a:noFill/>
        </p:spPr>
        <p:txBody>
          <a:bodyPr wrap="none" lIns="0" tIns="0" rIns="0" bIns="0">
            <a:spAutoFit/>
          </a:bodyPr>
          <a:lstStyle/>
          <a:p>
            <a:pPr algn="l">
              <a:defRPr sz="800" b="0">
                <a:solidFill>
                  <a:srgbClr val="8CB9AA"/>
                </a:solidFill>
                <a:latin typeface="Consolas"/>
              </a:defRPr>
            </a:pPr>
            <a:r>
              <a:t>+3V3_VCC</a:t>
            </a:r>
          </a:p>
        </p:txBody>
      </p:sp>
      <p:sp>
        <p:nvSpPr>
          <p:cNvPr id="20" name="TextBox 19"/>
          <p:cNvSpPr txBox="1"/>
          <p:nvPr/>
        </p:nvSpPr>
        <p:spPr>
          <a:xfrm>
            <a:off x="10241280" y="1115568"/>
            <a:ext cx="1371600" cy="228600"/>
          </a:xfrm>
          <a:prstGeom prst="rect">
            <a:avLst/>
          </a:prstGeom>
          <a:noFill/>
        </p:spPr>
        <p:txBody>
          <a:bodyPr wrap="none" lIns="0" tIns="0" rIns="0" bIns="0">
            <a:spAutoFit/>
          </a:bodyPr>
          <a:lstStyle/>
          <a:p>
            <a:pPr algn="l">
              <a:defRPr sz="800" b="0">
                <a:solidFill>
                  <a:srgbClr val="8CB9AA"/>
                </a:solidFill>
                <a:latin typeface="Consolas"/>
              </a:defRPr>
            </a:pPr>
            <a:r>
              <a:t>LAYER_TOP // FR4</a:t>
            </a:r>
          </a:p>
        </p:txBody>
      </p:sp>
      <p:sp>
        <p:nvSpPr>
          <p:cNvPr id="21" name="Rectangle 20"/>
          <p:cNvSpPr/>
          <p:nvPr/>
        </p:nvSpPr>
        <p:spPr>
          <a:xfrm>
            <a:off x="731520"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9920"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59936"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9920"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059936"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9920"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59936"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9920"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059936"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33120"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34056"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U1 [QA-ADAPT]</a:t>
            </a:r>
          </a:p>
        </p:txBody>
      </p:sp>
      <p:sp>
        <p:nvSpPr>
          <p:cNvPr id="32" name="TextBox 31"/>
          <p:cNvSpPr txBox="1"/>
          <p:nvPr/>
        </p:nvSpPr>
        <p:spPr>
          <a:xfrm>
            <a:off x="960120" y="1709928"/>
            <a:ext cx="1865376" cy="274320"/>
          </a:xfrm>
          <a:prstGeom prst="rect">
            <a:avLst/>
          </a:prstGeom>
          <a:noFill/>
        </p:spPr>
        <p:txBody>
          <a:bodyPr wrap="square" lIns="0" tIns="0" rIns="0" bIns="0">
            <a:spAutoFit/>
          </a:bodyPr>
          <a:lstStyle/>
          <a:p>
            <a:pPr>
              <a:defRPr sz="1300" b="1">
                <a:solidFill>
                  <a:srgbClr val="E8C27A"/>
                </a:solidFill>
                <a:latin typeface="Segoe UI"/>
              </a:defRPr>
            </a:pPr>
            <a:r>
              <a:t>Q1: PRIOR TUNING</a:t>
            </a:r>
          </a:p>
        </p:txBody>
      </p:sp>
      <p:sp>
        <p:nvSpPr>
          <p:cNvPr id="33" name="TextBox 32"/>
          <p:cNvSpPr txBox="1"/>
          <p:nvPr/>
        </p:nvSpPr>
        <p:spPr>
          <a:xfrm>
            <a:off x="960120" y="2075688"/>
            <a:ext cx="2871216"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Question: </a:t>
            </a:r>
            <a:r>
              <a:rPr sz="1150">
                <a:solidFill>
                  <a:srgbClr val="8CB9AA"/>
                </a:solidFill>
                <a:latin typeface="Consolas"/>
              </a:rPr>
              <a:t>Why adjust action priors instead of fine-tuning the decision trees on factory work orders?</a:t>
            </a:r>
          </a:p>
          <a:p>
            <a:pPr>
              <a:spcAft>
                <a:spcPts val="550"/>
              </a:spcAft>
            </a:pPr>
            <a:r>
              <a:rPr sz="1200" b="1">
                <a:solidFill>
                  <a:srgbClr val="D9A45B"/>
                </a:solidFill>
                <a:latin typeface="Consolas"/>
              </a:rPr>
              <a:t>Answer: </a:t>
            </a:r>
            <a:r>
              <a:rPr sz="1150">
                <a:solidFill>
                  <a:srgbClr val="8CB9AA"/>
                </a:solidFill>
                <a:latin typeface="Consolas"/>
              </a:rPr>
              <a:t>Retraining gradient trees on just 63 work orders leads to severe overfitting. Updating action priors takes seconds, keeps the ranking model stable, and doubled top-3 recall on future events.</a:t>
            </a:r>
          </a:p>
        </p:txBody>
      </p:sp>
      <p:sp>
        <p:nvSpPr>
          <p:cNvPr id="34" name="Rectangle 33"/>
          <p:cNvSpPr/>
          <p:nvPr/>
        </p:nvSpPr>
        <p:spPr>
          <a:xfrm>
            <a:off x="4425696"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324096"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754112"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324096"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754112"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324096"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754112"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24096"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754112"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527296"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28232"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U2 [QA-AZURE]</a:t>
            </a:r>
          </a:p>
        </p:txBody>
      </p:sp>
      <p:sp>
        <p:nvSpPr>
          <p:cNvPr id="45" name="TextBox 44"/>
          <p:cNvSpPr txBox="1"/>
          <p:nvPr/>
        </p:nvSpPr>
        <p:spPr>
          <a:xfrm>
            <a:off x="4654296" y="1709928"/>
            <a:ext cx="1865376" cy="274320"/>
          </a:xfrm>
          <a:prstGeom prst="rect">
            <a:avLst/>
          </a:prstGeom>
          <a:noFill/>
        </p:spPr>
        <p:txBody>
          <a:bodyPr wrap="square" lIns="0" tIns="0" rIns="0" bIns="0">
            <a:spAutoFit/>
          </a:bodyPr>
          <a:lstStyle/>
          <a:p>
            <a:pPr>
              <a:defRPr sz="1300" b="1">
                <a:solidFill>
                  <a:srgbClr val="E8C27A"/>
                </a:solidFill>
                <a:latin typeface="Segoe UI"/>
              </a:defRPr>
            </a:pPr>
            <a:r>
              <a:t>Q2: DATASET CHOICE</a:t>
            </a:r>
          </a:p>
        </p:txBody>
      </p:sp>
      <p:sp>
        <p:nvSpPr>
          <p:cNvPr id="46" name="TextBox 45"/>
          <p:cNvSpPr txBox="1"/>
          <p:nvPr/>
        </p:nvSpPr>
        <p:spPr>
          <a:xfrm>
            <a:off x="4654296" y="2075688"/>
            <a:ext cx="2871216"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Question: </a:t>
            </a:r>
            <a:r>
              <a:rPr sz="1150">
                <a:solidFill>
                  <a:srgbClr val="8CB9AA"/>
                </a:solidFill>
                <a:latin typeface="Consolas"/>
              </a:rPr>
              <a:t>Why disqualify the Microsoft Azure Predictive Maintenance dataset?</a:t>
            </a:r>
          </a:p>
          <a:p>
            <a:pPr>
              <a:spcAft>
                <a:spcPts val="550"/>
              </a:spcAft>
            </a:pPr>
            <a:r>
              <a:rPr sz="1200" b="1">
                <a:solidFill>
                  <a:srgbClr val="D9A45B"/>
                </a:solidFill>
                <a:latin typeface="Consolas"/>
              </a:rPr>
              <a:t>Answer: </a:t>
            </a:r>
            <a:r>
              <a:rPr sz="1150">
                <a:solidFill>
                  <a:srgbClr val="8CB9AA"/>
                </a:solidFill>
                <a:latin typeface="Consolas"/>
              </a:rPr>
              <a:t>Azure PM relies on generated synthetic failure rules and arbitrary simulated error flags. It has no real mechanic interventions. Testing against it would produce misleading numbers.</a:t>
            </a:r>
          </a:p>
        </p:txBody>
      </p:sp>
      <p:sp>
        <p:nvSpPr>
          <p:cNvPr id="47" name="Rectangle 46"/>
          <p:cNvSpPr/>
          <p:nvPr/>
        </p:nvSpPr>
        <p:spPr>
          <a:xfrm>
            <a:off x="8119872" y="1600200"/>
            <a:ext cx="3328416" cy="4480560"/>
          </a:xfrm>
          <a:prstGeom prst="rect">
            <a:avLst/>
          </a:prstGeom>
          <a:solidFill>
            <a:srgbClr val="0A3528"/>
          </a:solidFill>
          <a:ln w="12700">
            <a:solidFill>
              <a:srgbClr val="D9A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8018272"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448288" y="2477262"/>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018272"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1448288" y="3373374"/>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8018272"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1448288" y="4269486"/>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018272"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11448288" y="5165598"/>
            <a:ext cx="101600" cy="38100"/>
          </a:xfrm>
          <a:prstGeom prst="rect">
            <a:avLst/>
          </a:prstGeom>
          <a:solidFill>
            <a:srgbClr val="E8C2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8221472" y="1701800"/>
            <a:ext cx="63500" cy="635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122408" y="1651000"/>
            <a:ext cx="1188720" cy="228600"/>
          </a:xfrm>
          <a:prstGeom prst="rect">
            <a:avLst/>
          </a:prstGeom>
          <a:noFill/>
        </p:spPr>
        <p:txBody>
          <a:bodyPr wrap="none" lIns="0" tIns="0" rIns="0" bIns="0">
            <a:spAutoFit/>
          </a:bodyPr>
          <a:lstStyle/>
          <a:p>
            <a:pPr algn="r">
              <a:defRPr sz="1000" b="1">
                <a:solidFill>
                  <a:srgbClr val="D9A45B"/>
                </a:solidFill>
                <a:latin typeface="Consolas"/>
              </a:defRPr>
            </a:pPr>
            <a:r>
              <a:t>U3 [QA-LEAKAGE]</a:t>
            </a:r>
          </a:p>
        </p:txBody>
      </p:sp>
      <p:sp>
        <p:nvSpPr>
          <p:cNvPr id="58" name="TextBox 57"/>
          <p:cNvSpPr txBox="1"/>
          <p:nvPr/>
        </p:nvSpPr>
        <p:spPr>
          <a:xfrm>
            <a:off x="8348472" y="1709928"/>
            <a:ext cx="1865376" cy="274320"/>
          </a:xfrm>
          <a:prstGeom prst="rect">
            <a:avLst/>
          </a:prstGeom>
          <a:noFill/>
        </p:spPr>
        <p:txBody>
          <a:bodyPr wrap="square" lIns="0" tIns="0" rIns="0" bIns="0">
            <a:spAutoFit/>
          </a:bodyPr>
          <a:lstStyle/>
          <a:p>
            <a:pPr>
              <a:defRPr sz="1300" b="1">
                <a:solidFill>
                  <a:srgbClr val="E8C27A"/>
                </a:solidFill>
                <a:latin typeface="Segoe UI"/>
              </a:defRPr>
            </a:pPr>
            <a:r>
              <a:t>Q3: DATA INTEGRITY</a:t>
            </a:r>
          </a:p>
        </p:txBody>
      </p:sp>
      <p:sp>
        <p:nvSpPr>
          <p:cNvPr id="59" name="TextBox 58"/>
          <p:cNvSpPr txBox="1"/>
          <p:nvPr/>
        </p:nvSpPr>
        <p:spPr>
          <a:xfrm>
            <a:off x="8348472" y="2075688"/>
            <a:ext cx="2871216" cy="3886200"/>
          </a:xfrm>
          <a:prstGeom prst="rect">
            <a:avLst/>
          </a:prstGeom>
          <a:noFill/>
        </p:spPr>
        <p:txBody>
          <a:bodyPr wrap="square" lIns="0" tIns="0" rIns="0" bIns="0">
            <a:spAutoFit/>
          </a:bodyPr>
          <a:lstStyle/>
          <a:p>
            <a:pPr>
              <a:spcAft>
                <a:spcPts val="550"/>
              </a:spcAft>
            </a:pPr>
            <a:r>
              <a:rPr sz="1200" b="1">
                <a:solidFill>
                  <a:srgbClr val="D9A45B"/>
                </a:solidFill>
                <a:latin typeface="Consolas"/>
              </a:rPr>
              <a:t>Question: </a:t>
            </a:r>
            <a:r>
              <a:rPr sz="1150">
                <a:solidFill>
                  <a:srgbClr val="8CB9AA"/>
                </a:solidFill>
                <a:latin typeface="Consolas"/>
              </a:rPr>
              <a:t>How can you be sure no future failure data leaked into recommendations?</a:t>
            </a:r>
          </a:p>
          <a:p>
            <a:pPr>
              <a:spcAft>
                <a:spcPts val="550"/>
              </a:spcAft>
            </a:pPr>
            <a:r>
              <a:rPr sz="1200" b="1">
                <a:solidFill>
                  <a:srgbClr val="D9A45B"/>
                </a:solidFill>
                <a:latin typeface="Consolas"/>
              </a:rPr>
              <a:t>Answer: </a:t>
            </a:r>
            <a:r>
              <a:rPr sz="1150">
                <a:solidFill>
                  <a:srgbClr val="8CB9AA"/>
                </a:solidFill>
                <a:latin typeface="Consolas"/>
              </a:rPr>
              <a:t>Every sensor window ended strictly before the recommendation time. Model weights were locked before testing, and 14 automated audit checks verified zero lookahead leakage.</a:t>
            </a:r>
          </a:p>
        </p:txBody>
      </p:sp>
      <p:cxnSp>
        <p:nvCxnSpPr>
          <p:cNvPr id="60" name="Connector 59"/>
          <p:cNvCxnSpPr/>
          <p:nvPr/>
        </p:nvCxnSpPr>
        <p:spPr>
          <a:xfrm>
            <a:off x="4059936" y="347472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3983736"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021836"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4349496"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4387596"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64"/>
          <p:cNvCxnSpPr/>
          <p:nvPr/>
        </p:nvCxnSpPr>
        <p:spPr>
          <a:xfrm>
            <a:off x="7754112" y="3474720"/>
            <a:ext cx="365760" cy="0"/>
          </a:xfrm>
          <a:prstGeom prst="line">
            <a:avLst/>
          </a:prstGeom>
          <a:ln w="25400">
            <a:solidFill>
              <a:srgbClr val="D9A45B"/>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7677912"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716012"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8043672" y="3398520"/>
            <a:ext cx="152400" cy="152400"/>
          </a:xfrm>
          <a:prstGeom prst="ellipse">
            <a:avLst/>
          </a:prstGeom>
          <a:solidFill>
            <a:srgbClr val="D9A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81772" y="3436620"/>
            <a:ext cx="76200" cy="76200"/>
          </a:xfrm>
          <a:prstGeom prst="ellipse">
            <a:avLst/>
          </a:prstGeom>
          <a:solidFill>
            <a:srgbClr val="0E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5899</Words>
  <Application>Microsoft Office PowerPoint</Application>
  <PresentationFormat>Widescreen</PresentationFormat>
  <Paragraphs>501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IMT2023543 Darsh Veer Singh</cp:lastModifiedBy>
  <cp:revision>1</cp:revision>
  <dcterms:created xsi:type="dcterms:W3CDTF">2013-01-27T09:14:16Z</dcterms:created>
  <dcterms:modified xsi:type="dcterms:W3CDTF">2026-10-06T06:38:10Z</dcterms:modified>
  <cp:category/>
</cp:coreProperties>
</file>